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CKjlASAjg1t5vDaA8byt8g3slN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customschemas.google.com/relationships/presentationmetadata" Target="metadata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533520" y="764280"/>
            <a:ext cx="6704640" cy="37713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3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4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5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9" name="Google Shape;189;p5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2" name="Google Shape;202;p6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7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1" name="Google Shape;261;p7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8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p8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6" name="Google Shape;316;p9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0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7" name="Google Shape;357;p10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0" sz="120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 type="blank">
  <p:cSld name="BLANK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" name="Google Shape;11;p11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10" Type="http://schemas.openxmlformats.org/officeDocument/2006/relationships/image" Target="../media/image16.png"/><Relationship Id="rId9" Type="http://schemas.openxmlformats.org/officeDocument/2006/relationships/image" Target="../media/image14.png"/><Relationship Id="rId5" Type="http://schemas.openxmlformats.org/officeDocument/2006/relationships/image" Target="../media/image29.png"/><Relationship Id="rId6" Type="http://schemas.openxmlformats.org/officeDocument/2006/relationships/image" Target="../media/image1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13.png"/><Relationship Id="rId13" Type="http://schemas.openxmlformats.org/officeDocument/2006/relationships/image" Target="../media/image2.png"/><Relationship Id="rId1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9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4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27.png"/><Relationship Id="rId10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28.png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7.png"/><Relationship Id="rId5" Type="http://schemas.openxmlformats.org/officeDocument/2006/relationships/image" Target="../media/image25.png"/><Relationship Id="rId6" Type="http://schemas.openxmlformats.org/officeDocument/2006/relationships/image" Target="../media/image2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11.png"/><Relationship Id="rId5" Type="http://schemas.openxmlformats.org/officeDocument/2006/relationships/image" Target="../media/image22.png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image" Target="../media/image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3864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0" y="0"/>
            <a:ext cx="12161160" cy="109440"/>
          </a:xfrm>
          <a:prstGeom prst="rect">
            <a:avLst/>
          </a:prstGeom>
          <a:solidFill>
            <a:srgbClr val="2F8FA8"/>
          </a:solidFill>
          <a:ln>
            <a:noFill/>
          </a:ln>
        </p:spPr>
        <p:txBody>
          <a:bodyPr anchorCtr="0" anchor="ctr" bIns="54700" lIns="91425" spcFirstLastPara="1" rIns="91425" wrap="square" tIns="54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" name="Google Shape;1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1371600"/>
            <a:ext cx="868320" cy="86832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"/>
          <p:cNvSpPr/>
          <p:nvPr/>
        </p:nvSpPr>
        <p:spPr>
          <a:xfrm>
            <a:off x="731520" y="2331720"/>
            <a:ext cx="10058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IMSGA</a:t>
            </a:r>
            <a:endParaRPr b="0" i="0" sz="5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49880" y="3291840"/>
            <a:ext cx="100580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CADAEE"/>
                </a:solidFill>
                <a:latin typeface="Arial"/>
                <a:ea typeface="Arial"/>
                <a:cs typeface="Arial"/>
                <a:sym typeface="Arial"/>
              </a:rPr>
              <a:t>Sistema Gestor de Ambulancias</a:t>
            </a:r>
            <a:endParaRPr b="0" i="0" sz="2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749880" y="3977640"/>
            <a:ext cx="10058040" cy="8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9FB6D6"/>
                </a:solidFill>
                <a:latin typeface="Arial"/>
                <a:ea typeface="Arial"/>
                <a:cs typeface="Arial"/>
                <a:sym typeface="Arial"/>
              </a:rPr>
              <a:t>De la gestión manual al flujo automatizado:</a:t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9FB6D6"/>
                </a:solidFill>
                <a:latin typeface="Arial"/>
                <a:ea typeface="Arial"/>
                <a:cs typeface="Arial"/>
                <a:sym typeface="Arial"/>
              </a:rPr>
              <a:t>tiempo y trazabilidad para IMS Ambulancias</a:t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" name="Google Shape;23;p1"/>
          <p:cNvCxnSpPr/>
          <p:nvPr/>
        </p:nvCxnSpPr>
        <p:spPr>
          <a:xfrm>
            <a:off x="767880" y="5029200"/>
            <a:ext cx="2926440" cy="360"/>
          </a:xfrm>
          <a:prstGeom prst="straightConnector1">
            <a:avLst/>
          </a:prstGeom>
          <a:noFill/>
          <a:ln cap="flat" cmpd="sng" w="25400">
            <a:solidFill>
              <a:srgbClr val="2F8F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1"/>
          <p:cNvSpPr/>
          <p:nvPr/>
        </p:nvSpPr>
        <p:spPr>
          <a:xfrm>
            <a:off x="768240" y="5212080"/>
            <a:ext cx="1005804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Leonardo Vera · Pascal Coloma · Diego Valencia</a:t>
            </a:r>
            <a:endParaRPr b="0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FB6D6"/>
                </a:solidFill>
                <a:latin typeface="Arial"/>
                <a:ea typeface="Arial"/>
                <a:cs typeface="Arial"/>
                <a:sym typeface="Arial"/>
              </a:rPr>
              <a:t>Proyecto de Título · DUOC UC · 2026</a:t>
            </a:r>
            <a:endParaRPr b="0" i="0" sz="11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/>
          <p:nvPr/>
        </p:nvSpPr>
        <p:spPr>
          <a:xfrm>
            <a:off x="457200" y="1463040"/>
            <a:ext cx="5577480" cy="5074560"/>
          </a:xfrm>
          <a:prstGeom prst="roundRect">
            <a:avLst>
              <a:gd fmla="val 1081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457200" y="1463040"/>
            <a:ext cx="5577480" cy="502560"/>
          </a:xfrm>
          <a:prstGeom prst="roundRect">
            <a:avLst>
              <a:gd fmla="val 10909" name="adj"/>
            </a:avLst>
          </a:prstGeom>
          <a:solidFill>
            <a:srgbClr val="1F38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457200" y="1463040"/>
            <a:ext cx="5577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 PROBLEMA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713160" y="2313360"/>
            <a:ext cx="529920" cy="52992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4" name="Google Shape;3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0320" y="244152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2"/>
          <p:cNvSpPr/>
          <p:nvPr/>
        </p:nvSpPr>
        <p:spPr>
          <a:xfrm>
            <a:off x="1417320" y="2240280"/>
            <a:ext cx="39772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Despacho sin flujo definido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1417320" y="2532960"/>
            <a:ext cx="39772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Sin visibilidad del estado de cada solicitud en tiempo real.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" name="Google Shape;37;p2"/>
          <p:cNvCxnSpPr/>
          <p:nvPr/>
        </p:nvCxnSpPr>
        <p:spPr>
          <a:xfrm>
            <a:off x="685800" y="3063240"/>
            <a:ext cx="512100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2"/>
          <p:cNvSpPr/>
          <p:nvPr/>
        </p:nvSpPr>
        <p:spPr>
          <a:xfrm>
            <a:off x="713160" y="3337560"/>
            <a:ext cx="529920" cy="52992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9" name="Google Shape;39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320" y="346572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2"/>
          <p:cNvSpPr/>
          <p:nvPr/>
        </p:nvSpPr>
        <p:spPr>
          <a:xfrm>
            <a:off x="1417320" y="3264480"/>
            <a:ext cx="39772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Estado de móviles desconocido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417320" y="3557160"/>
            <a:ext cx="39772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Sin saber qué ambulancia está disponible al momento de asignar.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2" name="Google Shape;42;p2"/>
          <p:cNvCxnSpPr/>
          <p:nvPr/>
        </p:nvCxnSpPr>
        <p:spPr>
          <a:xfrm>
            <a:off x="685800" y="4087080"/>
            <a:ext cx="512100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" name="Google Shape;43;p2"/>
          <p:cNvSpPr/>
          <p:nvPr/>
        </p:nvSpPr>
        <p:spPr>
          <a:xfrm>
            <a:off x="713160" y="4361760"/>
            <a:ext cx="529920" cy="52992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44" name="Google Shape;4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0320" y="448956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"/>
          <p:cNvSpPr/>
          <p:nvPr/>
        </p:nvSpPr>
        <p:spPr>
          <a:xfrm>
            <a:off x="1417320" y="4288680"/>
            <a:ext cx="39772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Inventario manual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1417320" y="4581000"/>
            <a:ext cx="39772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Conteo a mano, propenso a errores y quiebres de stock.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" name="Google Shape;47;p2"/>
          <p:cNvCxnSpPr/>
          <p:nvPr/>
        </p:nvCxnSpPr>
        <p:spPr>
          <a:xfrm>
            <a:off x="685800" y="5111280"/>
            <a:ext cx="512100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" name="Google Shape;48;p2"/>
          <p:cNvSpPr/>
          <p:nvPr/>
        </p:nvSpPr>
        <p:spPr>
          <a:xfrm>
            <a:off x="713160" y="5385960"/>
            <a:ext cx="529920" cy="52992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49" name="Google Shape;49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50320" y="551376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1417320" y="5312520"/>
            <a:ext cx="397728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Fichas sin autoría ni integridad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417320" y="5605200"/>
            <a:ext cx="39772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Sin prueba de quién atendió ni de que el registro no fue alterado.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355080" y="1463040"/>
            <a:ext cx="5486040" cy="5074560"/>
          </a:xfrm>
          <a:prstGeom prst="roundRect">
            <a:avLst>
              <a:gd fmla="val 1081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6355080" y="1463040"/>
            <a:ext cx="5486040" cy="502560"/>
          </a:xfrm>
          <a:prstGeom prst="roundRect">
            <a:avLst>
              <a:gd fmla="val 10909" name="adj"/>
            </a:avLst>
          </a:prstGeom>
          <a:solidFill>
            <a:srgbClr val="2F8F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6355080" y="1463040"/>
            <a:ext cx="54860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 SOLUCIÓN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611040" y="2313360"/>
            <a:ext cx="529920" cy="529920"/>
          </a:xfrm>
          <a:prstGeom prst="ellipse">
            <a:avLst/>
          </a:prstGeom>
          <a:solidFill>
            <a:srgbClr val="2F8F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6" name="Google Shape;56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48200" y="244152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2"/>
          <p:cNvSpPr/>
          <p:nvPr/>
        </p:nvSpPr>
        <p:spPr>
          <a:xfrm>
            <a:off x="7315200" y="2240280"/>
            <a:ext cx="434304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Despacho con flujo claro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7315200" y="2532960"/>
            <a:ext cx="43430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Ciclo completo visible: recibido → asignado → finalizado.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" name="Google Shape;59;p2"/>
          <p:cNvCxnSpPr/>
          <p:nvPr/>
        </p:nvCxnSpPr>
        <p:spPr>
          <a:xfrm>
            <a:off x="6583680" y="3063240"/>
            <a:ext cx="502956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" name="Google Shape;60;p2"/>
          <p:cNvSpPr/>
          <p:nvPr/>
        </p:nvSpPr>
        <p:spPr>
          <a:xfrm>
            <a:off x="6611040" y="3337560"/>
            <a:ext cx="529920" cy="529920"/>
          </a:xfrm>
          <a:prstGeom prst="ellipse">
            <a:avLst/>
          </a:prstGeom>
          <a:solidFill>
            <a:srgbClr val="2F8F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61" name="Google Shape;61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48200" y="346572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"/>
          <p:cNvSpPr/>
          <p:nvPr/>
        </p:nvSpPr>
        <p:spPr>
          <a:xfrm>
            <a:off x="7315200" y="3264480"/>
            <a:ext cx="434304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Estado de ambulancias en tiempo real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7315200" y="3557160"/>
            <a:ext cx="43430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Disponibilidad actualizada al momento de asignar.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" name="Google Shape;64;p2"/>
          <p:cNvCxnSpPr/>
          <p:nvPr/>
        </p:nvCxnSpPr>
        <p:spPr>
          <a:xfrm>
            <a:off x="6583680" y="4087080"/>
            <a:ext cx="502956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2"/>
          <p:cNvSpPr/>
          <p:nvPr/>
        </p:nvSpPr>
        <p:spPr>
          <a:xfrm>
            <a:off x="6611040" y="4361760"/>
            <a:ext cx="529920" cy="529920"/>
          </a:xfrm>
          <a:prstGeom prst="ellipse">
            <a:avLst/>
          </a:prstGeom>
          <a:solidFill>
            <a:srgbClr val="2F8F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66" name="Google Shape;66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48200" y="448956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2"/>
          <p:cNvSpPr/>
          <p:nvPr/>
        </p:nvSpPr>
        <p:spPr>
          <a:xfrm>
            <a:off x="7315200" y="4288680"/>
            <a:ext cx="434304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Stock automatizado por ambulancia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7315200" y="4581000"/>
            <a:ext cx="43430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Descuento automático al registrar la atención.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" name="Google Shape;69;p2"/>
          <p:cNvCxnSpPr/>
          <p:nvPr/>
        </p:nvCxnSpPr>
        <p:spPr>
          <a:xfrm>
            <a:off x="6583680" y="5111280"/>
            <a:ext cx="502956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" name="Google Shape;70;p2"/>
          <p:cNvSpPr/>
          <p:nvPr/>
        </p:nvSpPr>
        <p:spPr>
          <a:xfrm>
            <a:off x="6611040" y="5385960"/>
            <a:ext cx="529920" cy="529920"/>
          </a:xfrm>
          <a:prstGeom prst="ellipse">
            <a:avLst/>
          </a:prstGeom>
          <a:solidFill>
            <a:srgbClr val="2F8F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71" name="Google Shape;71;p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748200" y="551376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/>
          <p:nvPr/>
        </p:nvSpPr>
        <p:spPr>
          <a:xfrm>
            <a:off x="7315200" y="5312520"/>
            <a:ext cx="434304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Fichas confiables y trazables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7315200" y="5605200"/>
            <a:ext cx="43430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Autoría firmada, integridad verificable por QR, exportación FHIR.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4851000" y="850320"/>
            <a:ext cx="291636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IMSGA · IMS Ambulancias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4851000" y="521280"/>
            <a:ext cx="291636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Problema y Solución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640080" y="6446520"/>
            <a:ext cx="54860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IMSGA · Proyecto de Título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11338560" y="644652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"/>
          <p:cNvSpPr/>
          <p:nvPr/>
        </p:nvSpPr>
        <p:spPr>
          <a:xfrm>
            <a:off x="640080" y="411480"/>
            <a:ext cx="108810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PROPUESTA DE SOLUCIÓN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640080" y="676800"/>
            <a:ext cx="10881000" cy="63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Dos aplicativos para toda la operación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" name="Google Shape;85;p3"/>
          <p:cNvCxnSpPr/>
          <p:nvPr/>
        </p:nvCxnSpPr>
        <p:spPr>
          <a:xfrm>
            <a:off x="658080" y="1371600"/>
            <a:ext cx="1006200" cy="360"/>
          </a:xfrm>
          <a:prstGeom prst="straightConnector1">
            <a:avLst/>
          </a:prstGeom>
          <a:noFill/>
          <a:ln cap="flat" cmpd="sng" w="31750">
            <a:solidFill>
              <a:srgbClr val="2F8F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3"/>
          <p:cNvSpPr/>
          <p:nvPr/>
        </p:nvSpPr>
        <p:spPr>
          <a:xfrm>
            <a:off x="640080" y="1554480"/>
            <a:ext cx="5394600" cy="4891680"/>
          </a:xfrm>
          <a:prstGeom prst="roundRect">
            <a:avLst>
              <a:gd fmla="val 1495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640080" y="1554480"/>
            <a:ext cx="5394600" cy="1005480"/>
          </a:xfrm>
          <a:prstGeom prst="roundRect">
            <a:avLst>
              <a:gd fmla="val 7273" name="adj"/>
            </a:avLst>
          </a:prstGeom>
          <a:solidFill>
            <a:srgbClr val="1F38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914400" y="1783080"/>
            <a:ext cx="566640" cy="5666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9" name="Google Shape;8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1560" y="1920240"/>
            <a:ext cx="292320" cy="29232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3"/>
          <p:cNvSpPr/>
          <p:nvPr/>
        </p:nvSpPr>
        <p:spPr>
          <a:xfrm>
            <a:off x="1645920" y="1664280"/>
            <a:ext cx="4251600" cy="383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 Web - Centro de Control</a:t>
            </a:r>
            <a:endParaRPr b="0" i="0" sz="1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1645920" y="2057400"/>
            <a:ext cx="42516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CADAEE"/>
                </a:solidFill>
                <a:latin typeface="Arial"/>
                <a:ea typeface="Arial"/>
                <a:cs typeface="Arial"/>
                <a:sym typeface="Arial"/>
              </a:rPr>
              <a:t>Para personal de Control en base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914400" y="278892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3" name="Google Shape;9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6840" y="287136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3"/>
          <p:cNvSpPr/>
          <p:nvPr/>
        </p:nvSpPr>
        <p:spPr>
          <a:xfrm>
            <a:off x="1417320" y="269748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Recepción de llamados y creación de despachos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3"/>
          <p:cNvCxnSpPr/>
          <p:nvPr/>
        </p:nvCxnSpPr>
        <p:spPr>
          <a:xfrm>
            <a:off x="914400" y="324612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3"/>
          <p:cNvSpPr/>
          <p:nvPr/>
        </p:nvSpPr>
        <p:spPr>
          <a:xfrm>
            <a:off x="914400" y="340164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7" name="Google Shape;97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96840" y="348372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3"/>
          <p:cNvSpPr/>
          <p:nvPr/>
        </p:nvSpPr>
        <p:spPr>
          <a:xfrm>
            <a:off x="1417320" y="331020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Asignación de equipos y seguimiento de estado de móviles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" name="Google Shape;99;p3"/>
          <p:cNvCxnSpPr/>
          <p:nvPr/>
        </p:nvCxnSpPr>
        <p:spPr>
          <a:xfrm>
            <a:off x="914400" y="385848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3"/>
          <p:cNvSpPr/>
          <p:nvPr/>
        </p:nvSpPr>
        <p:spPr>
          <a:xfrm>
            <a:off x="914400" y="401436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1" name="Google Shape;101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6840" y="409644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3"/>
          <p:cNvSpPr/>
          <p:nvPr/>
        </p:nvSpPr>
        <p:spPr>
          <a:xfrm>
            <a:off x="1417320" y="392292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Gestión de inventario global y por ambulancia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" name="Google Shape;103;p3"/>
          <p:cNvCxnSpPr/>
          <p:nvPr/>
        </p:nvCxnSpPr>
        <p:spPr>
          <a:xfrm>
            <a:off x="914400" y="447120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3"/>
          <p:cNvSpPr/>
          <p:nvPr/>
        </p:nvSpPr>
        <p:spPr>
          <a:xfrm>
            <a:off x="914400" y="462672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5" name="Google Shape;10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6840" y="470916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/>
          <p:nvPr/>
        </p:nvSpPr>
        <p:spPr>
          <a:xfrm>
            <a:off x="1417320" y="453528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Administración de grupos de trabajo y empleados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7" name="Google Shape;107;p3"/>
          <p:cNvCxnSpPr/>
          <p:nvPr/>
        </p:nvCxnSpPr>
        <p:spPr>
          <a:xfrm>
            <a:off x="914400" y="508392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3"/>
          <p:cNvSpPr/>
          <p:nvPr/>
        </p:nvSpPr>
        <p:spPr>
          <a:xfrm>
            <a:off x="914400" y="523944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9" name="Google Shape;109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96840" y="532188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/>
          <p:nvPr/>
        </p:nvSpPr>
        <p:spPr>
          <a:xfrm>
            <a:off x="1417320" y="514800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Auditoría de fichas clínicas y logs de atención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914400" y="569664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3"/>
          <p:cNvSpPr/>
          <p:nvPr/>
        </p:nvSpPr>
        <p:spPr>
          <a:xfrm>
            <a:off x="914400" y="585216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3" name="Google Shape;113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96840" y="593460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3"/>
          <p:cNvSpPr/>
          <p:nvPr/>
        </p:nvSpPr>
        <p:spPr>
          <a:xfrm>
            <a:off x="1417320" y="576072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Descarga de documentos firmados y verificación por QR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6400800" y="1554480"/>
            <a:ext cx="5394600" cy="4891680"/>
          </a:xfrm>
          <a:prstGeom prst="roundRect">
            <a:avLst>
              <a:gd fmla="val 1495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400800" y="1554480"/>
            <a:ext cx="5394600" cy="1005480"/>
          </a:xfrm>
          <a:prstGeom prst="roundRect">
            <a:avLst>
              <a:gd fmla="val 7273" name="adj"/>
            </a:avLst>
          </a:prstGeom>
          <a:solidFill>
            <a:srgbClr val="2F8F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6675120" y="1783080"/>
            <a:ext cx="566640" cy="5666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8" name="Google Shape;118;p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812280" y="1920240"/>
            <a:ext cx="292320" cy="29232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"/>
          <p:cNvSpPr/>
          <p:nvPr/>
        </p:nvSpPr>
        <p:spPr>
          <a:xfrm>
            <a:off x="7406640" y="1664280"/>
            <a:ext cx="4251600" cy="383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 Móvil - Personal en Terreno</a:t>
            </a:r>
            <a:endParaRPr b="0" i="0" sz="14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7406640" y="2057400"/>
            <a:ext cx="42516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CADAEE"/>
                </a:solidFill>
                <a:latin typeface="Arial"/>
                <a:ea typeface="Arial"/>
                <a:cs typeface="Arial"/>
                <a:sym typeface="Arial"/>
              </a:rPr>
              <a:t>Para médicos, enfermeros y conductores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6675120" y="278892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22" name="Google Shape;122;p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757560" y="287136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"/>
          <p:cNvSpPr/>
          <p:nvPr/>
        </p:nvSpPr>
        <p:spPr>
          <a:xfrm>
            <a:off x="7178040" y="269748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Recepción de notificaciones push de despacho y emergencia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" name="Google Shape;124;p3"/>
          <p:cNvCxnSpPr/>
          <p:nvPr/>
        </p:nvCxnSpPr>
        <p:spPr>
          <a:xfrm>
            <a:off x="6675120" y="324612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" name="Google Shape;125;p3"/>
          <p:cNvSpPr/>
          <p:nvPr/>
        </p:nvSpPr>
        <p:spPr>
          <a:xfrm>
            <a:off x="6675120" y="340164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26" name="Google Shape;126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57560" y="348372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3"/>
          <p:cNvSpPr/>
          <p:nvPr/>
        </p:nvSpPr>
        <p:spPr>
          <a:xfrm>
            <a:off x="7178040" y="331020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Registro de fichas de atención y signos vitales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" name="Google Shape;128;p3"/>
          <p:cNvCxnSpPr/>
          <p:nvPr/>
        </p:nvCxnSpPr>
        <p:spPr>
          <a:xfrm>
            <a:off x="6675120" y="385848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3"/>
          <p:cNvSpPr/>
          <p:nvPr/>
        </p:nvSpPr>
        <p:spPr>
          <a:xfrm>
            <a:off x="6675120" y="401436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30" name="Google Shape;13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57560" y="409644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/>
          <p:nvPr/>
        </p:nvSpPr>
        <p:spPr>
          <a:xfrm>
            <a:off x="7178040" y="392292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Registro de insumos utilizados durante la atención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2" name="Google Shape;132;p3"/>
          <p:cNvCxnSpPr/>
          <p:nvPr/>
        </p:nvCxnSpPr>
        <p:spPr>
          <a:xfrm>
            <a:off x="6675120" y="447120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" name="Google Shape;133;p3"/>
          <p:cNvSpPr/>
          <p:nvPr/>
        </p:nvSpPr>
        <p:spPr>
          <a:xfrm>
            <a:off x="6675120" y="462672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34" name="Google Shape;134;p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757560" y="470916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"/>
          <p:cNvSpPr/>
          <p:nvPr/>
        </p:nvSpPr>
        <p:spPr>
          <a:xfrm>
            <a:off x="7178040" y="453528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Firma electrónica de la ficha (Ed25519)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" name="Google Shape;136;p3"/>
          <p:cNvCxnSpPr/>
          <p:nvPr/>
        </p:nvCxnSpPr>
        <p:spPr>
          <a:xfrm>
            <a:off x="6675120" y="508392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3"/>
          <p:cNvSpPr/>
          <p:nvPr/>
        </p:nvSpPr>
        <p:spPr>
          <a:xfrm>
            <a:off x="6675120" y="523944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38" name="Google Shape;138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757560" y="532188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"/>
          <p:cNvSpPr/>
          <p:nvPr/>
        </p:nvSpPr>
        <p:spPr>
          <a:xfrm>
            <a:off x="7178040" y="514800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Actualización del estado operativo de la ambulancia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" name="Google Shape;140;p3"/>
          <p:cNvCxnSpPr/>
          <p:nvPr/>
        </p:nvCxnSpPr>
        <p:spPr>
          <a:xfrm>
            <a:off x="6675120" y="5696640"/>
            <a:ext cx="484668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" name="Google Shape;141;p3"/>
          <p:cNvSpPr/>
          <p:nvPr/>
        </p:nvSpPr>
        <p:spPr>
          <a:xfrm>
            <a:off x="6675120" y="5852160"/>
            <a:ext cx="347040" cy="34704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2" name="Google Shape;14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57560" y="5934600"/>
            <a:ext cx="182520" cy="18252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"/>
          <p:cNvSpPr/>
          <p:nvPr/>
        </p:nvSpPr>
        <p:spPr>
          <a:xfrm>
            <a:off x="7178040" y="5760720"/>
            <a:ext cx="443448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Registro dinámico de pacientes durante la atención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40080" y="6446520"/>
            <a:ext cx="54860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IMSGA · Proyecto de Título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11338560" y="644652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"/>
          <p:cNvSpPr/>
          <p:nvPr/>
        </p:nvSpPr>
        <p:spPr>
          <a:xfrm>
            <a:off x="640080" y="411480"/>
            <a:ext cx="108810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ALCANCES Y LIMITACIONES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640080" y="676800"/>
            <a:ext cx="10881000" cy="63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Qué hace el sistema y qué queda fuera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3" name="Google Shape;153;p4"/>
          <p:cNvCxnSpPr/>
          <p:nvPr/>
        </p:nvCxnSpPr>
        <p:spPr>
          <a:xfrm>
            <a:off x="658080" y="1371600"/>
            <a:ext cx="1006200" cy="360"/>
          </a:xfrm>
          <a:prstGeom prst="straightConnector1">
            <a:avLst/>
          </a:prstGeom>
          <a:noFill/>
          <a:ln cap="flat" cmpd="sng" w="31750">
            <a:solidFill>
              <a:srgbClr val="2F8F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4"/>
          <p:cNvSpPr/>
          <p:nvPr/>
        </p:nvSpPr>
        <p:spPr>
          <a:xfrm>
            <a:off x="640080" y="1600200"/>
            <a:ext cx="6857640" cy="4388760"/>
          </a:xfrm>
          <a:prstGeom prst="roundRect">
            <a:avLst>
              <a:gd fmla="val 1458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640080" y="1600200"/>
            <a:ext cx="6857640" cy="456840"/>
          </a:xfrm>
          <a:prstGeom prst="roundRect">
            <a:avLst>
              <a:gd fmla="val 14000" name="adj"/>
            </a:avLst>
          </a:prstGeom>
          <a:solidFill>
            <a:srgbClr val="1F38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640080" y="1600200"/>
            <a:ext cx="68576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  ALCANCES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960120" y="2194560"/>
            <a:ext cx="137124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App Web: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2331720" y="2194560"/>
            <a:ext cx="4937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Gestión completa de despachos, grupos, inventario y auditoría de fichas desde el Centro de Control.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9" name="Google Shape;159;p4"/>
          <p:cNvCxnSpPr/>
          <p:nvPr/>
        </p:nvCxnSpPr>
        <p:spPr>
          <a:xfrm>
            <a:off x="914400" y="2852640"/>
            <a:ext cx="630972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4"/>
          <p:cNvSpPr/>
          <p:nvPr/>
        </p:nvSpPr>
        <p:spPr>
          <a:xfrm>
            <a:off x="960120" y="2944440"/>
            <a:ext cx="137124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App Móvil: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2331720" y="2944440"/>
            <a:ext cx="4937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Registro de atenciones, firma de fichas, actualización de estado de móviles y recepción de push desde terreno.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2" name="Google Shape;162;p4"/>
          <p:cNvCxnSpPr/>
          <p:nvPr/>
        </p:nvCxnSpPr>
        <p:spPr>
          <a:xfrm>
            <a:off x="914400" y="3602520"/>
            <a:ext cx="630972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3" name="Google Shape;163;p4"/>
          <p:cNvSpPr/>
          <p:nvPr/>
        </p:nvSpPr>
        <p:spPr>
          <a:xfrm>
            <a:off x="960120" y="3694320"/>
            <a:ext cx="137124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Firma e integridad: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2331720" y="3694320"/>
            <a:ext cx="4937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Cada ficha queda firmada con Ed25519 y es verificable públicamente por hash mediante QR.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5" name="Google Shape;165;p4"/>
          <p:cNvCxnSpPr/>
          <p:nvPr/>
        </p:nvCxnSpPr>
        <p:spPr>
          <a:xfrm>
            <a:off x="914400" y="4352400"/>
            <a:ext cx="630972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6" name="Google Shape;166;p4"/>
          <p:cNvSpPr/>
          <p:nvPr/>
        </p:nvSpPr>
        <p:spPr>
          <a:xfrm>
            <a:off x="960120" y="4443840"/>
            <a:ext cx="137124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Interoperabilidad: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4"/>
          <p:cNvSpPr/>
          <p:nvPr/>
        </p:nvSpPr>
        <p:spPr>
          <a:xfrm>
            <a:off x="2331720" y="4443840"/>
            <a:ext cx="4937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Exportación de fichas en Bundle FHIR R4B / CL Core, conforme a la Ley 21.668.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8" name="Google Shape;168;p4"/>
          <p:cNvCxnSpPr/>
          <p:nvPr/>
        </p:nvCxnSpPr>
        <p:spPr>
          <a:xfrm>
            <a:off x="914400" y="5102280"/>
            <a:ext cx="630972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4"/>
          <p:cNvSpPr/>
          <p:nvPr/>
        </p:nvSpPr>
        <p:spPr>
          <a:xfrm>
            <a:off x="960120" y="5193720"/>
            <a:ext cx="137124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Notificaciones: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2331720" y="5193720"/>
            <a:ext cx="4937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Alertas push en tiempo real para despacho, emergencia, atención registrada y finalización.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7863840" y="1600200"/>
            <a:ext cx="3977280" cy="4388760"/>
          </a:xfrm>
          <a:prstGeom prst="roundRect">
            <a:avLst>
              <a:gd fmla="val 1609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7863840" y="1600200"/>
            <a:ext cx="3977280" cy="456840"/>
          </a:xfrm>
          <a:prstGeom prst="roundRect">
            <a:avLst>
              <a:gd fmla="val 14000" name="adj"/>
            </a:avLst>
          </a:prstGeom>
          <a:solidFill>
            <a:srgbClr val="8A9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7863840" y="1600200"/>
            <a:ext cx="397728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✗  LIMITACIONES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8183880" y="2194560"/>
            <a:ext cx="164556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A97A8"/>
                </a:solidFill>
                <a:latin typeface="Arial"/>
                <a:ea typeface="Arial"/>
                <a:cs typeface="Arial"/>
                <a:sym typeface="Arial"/>
              </a:rPr>
              <a:t>Sin GPS: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9829800" y="2194560"/>
            <a:ext cx="17827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El sistema no valida la posición física del móvil ni ofrece guiado de ruta hacia el punto del despacho.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6" name="Google Shape;176;p4"/>
          <p:cNvCxnSpPr/>
          <p:nvPr/>
        </p:nvCxnSpPr>
        <p:spPr>
          <a:xfrm>
            <a:off x="8138160" y="3017520"/>
            <a:ext cx="342936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7" name="Google Shape;177;p4"/>
          <p:cNvSpPr/>
          <p:nvPr/>
        </p:nvSpPr>
        <p:spPr>
          <a:xfrm>
            <a:off x="8183880" y="3108960"/>
            <a:ext cx="164556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A97A8"/>
                </a:solidFill>
                <a:latin typeface="Arial"/>
                <a:ea typeface="Arial"/>
                <a:cs typeface="Arial"/>
                <a:sym typeface="Arial"/>
              </a:rPr>
              <a:t>Sin auto escalado: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9829800" y="3108960"/>
            <a:ext cx="17827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La capacidad es un techo fijo (no hay Auto Scaling Group ni balanceador de carga dinámico).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9" name="Google Shape;179;p4"/>
          <p:cNvCxnSpPr/>
          <p:nvPr/>
        </p:nvCxnSpPr>
        <p:spPr>
          <a:xfrm>
            <a:off x="8138160" y="3931920"/>
            <a:ext cx="342936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0" name="Google Shape;180;p4"/>
          <p:cNvSpPr/>
          <p:nvPr/>
        </p:nvSpPr>
        <p:spPr>
          <a:xfrm>
            <a:off x="8183880" y="4023360"/>
            <a:ext cx="164556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A97A8"/>
                </a:solidFill>
                <a:latin typeface="Arial"/>
                <a:ea typeface="Arial"/>
                <a:cs typeface="Arial"/>
                <a:sym typeface="Arial"/>
              </a:rPr>
              <a:t>Sin recuperación de credenciales: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9829800" y="4023360"/>
            <a:ext cx="17827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No existe autoservicio de recuperación de contraseñas; requiere intervención del equipo de TI.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8138160" y="4846320"/>
            <a:ext cx="3429360" cy="360"/>
          </a:xfrm>
          <a:prstGeom prst="straightConnector1">
            <a:avLst/>
          </a:prstGeom>
          <a:noFill/>
          <a:ln cap="flat" cmpd="sng" w="9525">
            <a:solidFill>
              <a:srgbClr val="EDF1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" name="Google Shape;183;p4"/>
          <p:cNvSpPr/>
          <p:nvPr/>
        </p:nvSpPr>
        <p:spPr>
          <a:xfrm>
            <a:off x="8183880" y="4937760"/>
            <a:ext cx="1645560" cy="34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A97A8"/>
                </a:solidFill>
                <a:latin typeface="Arial"/>
                <a:ea typeface="Arial"/>
                <a:cs typeface="Arial"/>
                <a:sym typeface="Arial"/>
              </a:rPr>
              <a:t>Sin validación física: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"/>
          <p:cNvSpPr/>
          <p:nvPr/>
        </p:nvSpPr>
        <p:spPr>
          <a:xfrm>
            <a:off x="9829800" y="4937760"/>
            <a:ext cx="17827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El sistema no valida la posición física de los equipos en terreno.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"/>
          <p:cNvSpPr/>
          <p:nvPr/>
        </p:nvSpPr>
        <p:spPr>
          <a:xfrm>
            <a:off x="640080" y="6446520"/>
            <a:ext cx="54860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IMSGA · Proyecto de Título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11338560" y="644652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5"/>
          <p:cNvSpPr/>
          <p:nvPr/>
        </p:nvSpPr>
        <p:spPr>
          <a:xfrm>
            <a:off x="640080" y="411480"/>
            <a:ext cx="108810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PLANIFICACIÓN Y METODOLOGÍA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640080" y="676800"/>
            <a:ext cx="10881000" cy="63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Carta Gantt del Proyecto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4" name="Google Shape;194;p5"/>
          <p:cNvCxnSpPr/>
          <p:nvPr/>
        </p:nvCxnSpPr>
        <p:spPr>
          <a:xfrm>
            <a:off x="658080" y="1371600"/>
            <a:ext cx="1006200" cy="360"/>
          </a:xfrm>
          <a:prstGeom prst="straightConnector1">
            <a:avLst/>
          </a:prstGeom>
          <a:noFill/>
          <a:ln cap="flat" cmpd="sng" w="31750">
            <a:solidFill>
              <a:srgbClr val="2F8F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5" name="Google Shape;195;p5"/>
          <p:cNvSpPr/>
          <p:nvPr/>
        </p:nvSpPr>
        <p:spPr>
          <a:xfrm>
            <a:off x="457200" y="6144840"/>
            <a:ext cx="11246760" cy="383760"/>
          </a:xfrm>
          <a:prstGeom prst="roundRect">
            <a:avLst>
              <a:gd fmla="val 9524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640080" y="6144840"/>
            <a:ext cx="10972440" cy="383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Se utilizaron software como Trello para la organización de las tareas</a:t>
            </a:r>
            <a:endParaRPr b="0" i="0" sz="9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640080" y="6446520"/>
            <a:ext cx="54860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IMSGA · Proyecto de Título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11338560" y="644652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440" y="1441440"/>
            <a:ext cx="10570320" cy="4578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6"/>
          <p:cNvSpPr/>
          <p:nvPr/>
        </p:nvSpPr>
        <p:spPr>
          <a:xfrm>
            <a:off x="640080" y="411480"/>
            <a:ext cx="108810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640080" y="676800"/>
            <a:ext cx="10881000" cy="63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Arquitectura del sistema en AWS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7" name="Google Shape;207;p6"/>
          <p:cNvCxnSpPr/>
          <p:nvPr/>
        </p:nvCxnSpPr>
        <p:spPr>
          <a:xfrm>
            <a:off x="658080" y="1371600"/>
            <a:ext cx="1006200" cy="360"/>
          </a:xfrm>
          <a:prstGeom prst="straightConnector1">
            <a:avLst/>
          </a:prstGeom>
          <a:noFill/>
          <a:ln cap="flat" cmpd="sng" w="31750">
            <a:solidFill>
              <a:srgbClr val="2F8F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8" name="Google Shape;208;p6"/>
          <p:cNvSpPr/>
          <p:nvPr/>
        </p:nvSpPr>
        <p:spPr>
          <a:xfrm>
            <a:off x="640080" y="1554480"/>
            <a:ext cx="1416960" cy="868320"/>
          </a:xfrm>
          <a:prstGeom prst="roundRect">
            <a:avLst>
              <a:gd fmla="val 5263" name="adj"/>
            </a:avLst>
          </a:prstGeom>
          <a:solidFill>
            <a:srgbClr val="2E4D7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640080" y="1554480"/>
            <a:ext cx="1416960" cy="868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550" lIns="25550" spcFirstLastPara="1" rIns="25550" wrap="square" tIns="25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ACCESO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2194560" y="1554480"/>
            <a:ext cx="4571640" cy="86832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D5DEEA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11" name="Google Shape;21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23160" y="1810440"/>
            <a:ext cx="365400" cy="36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6"/>
          <p:cNvSpPr/>
          <p:nvPr/>
        </p:nvSpPr>
        <p:spPr>
          <a:xfrm>
            <a:off x="2971800" y="1554480"/>
            <a:ext cx="3657240" cy="868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Clientes web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HTTPS → Frontend(React)</a:t>
            </a:r>
            <a:endParaRPr b="0" i="0" sz="9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6949440" y="1554480"/>
            <a:ext cx="4571640" cy="86832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D5DEEA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14" name="Google Shape;2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8040" y="1810440"/>
            <a:ext cx="365400" cy="36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6"/>
          <p:cNvSpPr/>
          <p:nvPr/>
        </p:nvSpPr>
        <p:spPr>
          <a:xfrm>
            <a:off x="7726680" y="1554480"/>
            <a:ext cx="3657240" cy="868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App Android (terreno)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HTTPS → Backend (directo)(React Native)</a:t>
            </a:r>
            <a:endParaRPr b="0" i="0" sz="9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640080" y="2807280"/>
            <a:ext cx="1416960" cy="1691280"/>
          </a:xfrm>
          <a:prstGeom prst="roundRect">
            <a:avLst>
              <a:gd fmla="val 3226" name="adj"/>
            </a:avLst>
          </a:prstGeom>
          <a:solidFill>
            <a:srgbClr val="2F8F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640080" y="2807280"/>
            <a:ext cx="1416960" cy="1691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550" lIns="25550" spcFirstLastPara="1" rIns="25550" wrap="square" tIns="25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APLICACIÓN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2194560" y="2807280"/>
            <a:ext cx="9326520" cy="1691280"/>
          </a:xfrm>
          <a:prstGeom prst="roundRect">
            <a:avLst>
              <a:gd fmla="val 2162" name="adj"/>
            </a:avLst>
          </a:prstGeom>
          <a:solidFill>
            <a:srgbClr val="EAF3EC"/>
          </a:solidFill>
          <a:ln cap="flat" cmpd="sng" w="12700">
            <a:solidFill>
              <a:srgbClr val="AFCB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2331720" y="2880360"/>
            <a:ext cx="5486040" cy="23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3C7A4E"/>
                </a:solidFill>
                <a:latin typeface="Arial"/>
                <a:ea typeface="Arial"/>
                <a:cs typeface="Arial"/>
                <a:sym typeface="Arial"/>
              </a:rPr>
              <a:t>VPC · Subred pública — 3 instancias EC2</a:t>
            </a:r>
            <a:endParaRPr b="0" i="0" sz="9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2423160" y="3218760"/>
            <a:ext cx="2742840" cy="1142640"/>
          </a:xfrm>
          <a:prstGeom prst="roundRect">
            <a:avLst>
              <a:gd fmla="val 4800" name="adj"/>
            </a:avLst>
          </a:prstGeom>
          <a:solidFill>
            <a:srgbClr val="FFFFFF"/>
          </a:solidFill>
          <a:ln cap="flat" cmpd="sng" w="12700">
            <a:solidFill>
              <a:srgbClr val="D5DEEA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2606040" y="3511440"/>
            <a:ext cx="548280" cy="54828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22" name="Google Shape;22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743200" y="3648600"/>
            <a:ext cx="273960" cy="27396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6"/>
          <p:cNvSpPr/>
          <p:nvPr/>
        </p:nvSpPr>
        <p:spPr>
          <a:xfrm>
            <a:off x="3264480" y="3383280"/>
            <a:ext cx="178272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3264480" y="3694320"/>
            <a:ext cx="1782720" cy="5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SPA · NGINX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Puerta de entrada web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5" name="Google Shape;225;p6"/>
          <p:cNvCxnSpPr/>
          <p:nvPr/>
        </p:nvCxnSpPr>
        <p:spPr>
          <a:xfrm>
            <a:off x="5166360" y="3790080"/>
            <a:ext cx="320400" cy="360"/>
          </a:xfrm>
          <a:prstGeom prst="straightConnector1">
            <a:avLst/>
          </a:prstGeom>
          <a:noFill/>
          <a:ln cap="flat" cmpd="sng" w="22225">
            <a:solidFill>
              <a:srgbClr val="7E8DA3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6" name="Google Shape;226;p6"/>
          <p:cNvSpPr/>
          <p:nvPr/>
        </p:nvSpPr>
        <p:spPr>
          <a:xfrm>
            <a:off x="5486400" y="3218760"/>
            <a:ext cx="2742840" cy="1142640"/>
          </a:xfrm>
          <a:prstGeom prst="roundRect">
            <a:avLst>
              <a:gd fmla="val 4800" name="adj"/>
            </a:avLst>
          </a:prstGeom>
          <a:solidFill>
            <a:srgbClr val="FFFFFF"/>
          </a:solidFill>
          <a:ln cap="flat" cmpd="sng" w="12700">
            <a:solidFill>
              <a:srgbClr val="D5DEEA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5669280" y="3511440"/>
            <a:ext cx="548280" cy="54828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28" name="Google Shape;228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06440" y="3648600"/>
            <a:ext cx="273960" cy="27396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"/>
          <p:cNvSpPr/>
          <p:nvPr/>
        </p:nvSpPr>
        <p:spPr>
          <a:xfrm>
            <a:off x="6327720" y="3383280"/>
            <a:ext cx="178272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6327720" y="3694320"/>
            <a:ext cx="1782720" cy="5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Django · Gunicorn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Lógica de negocio · API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1" name="Google Shape;231;p6"/>
          <p:cNvCxnSpPr/>
          <p:nvPr/>
        </p:nvCxnSpPr>
        <p:spPr>
          <a:xfrm>
            <a:off x="8229600" y="3790080"/>
            <a:ext cx="320400" cy="360"/>
          </a:xfrm>
          <a:prstGeom prst="straightConnector1">
            <a:avLst/>
          </a:prstGeom>
          <a:noFill/>
          <a:ln cap="flat" cmpd="sng" w="22225">
            <a:solidFill>
              <a:srgbClr val="7E8DA3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2" name="Google Shape;232;p6"/>
          <p:cNvSpPr/>
          <p:nvPr/>
        </p:nvSpPr>
        <p:spPr>
          <a:xfrm>
            <a:off x="8549640" y="3218760"/>
            <a:ext cx="2742840" cy="1142640"/>
          </a:xfrm>
          <a:prstGeom prst="roundRect">
            <a:avLst>
              <a:gd fmla="val 4800" name="adj"/>
            </a:avLst>
          </a:prstGeom>
          <a:solidFill>
            <a:srgbClr val="FFFFFF"/>
          </a:solidFill>
          <a:ln cap="flat" cmpd="sng" w="12700">
            <a:solidFill>
              <a:srgbClr val="D5DEEA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8732520" y="3511440"/>
            <a:ext cx="548280" cy="54828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34" name="Google Shape;234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869680" y="3648600"/>
            <a:ext cx="273960" cy="27396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6"/>
          <p:cNvSpPr/>
          <p:nvPr/>
        </p:nvSpPr>
        <p:spPr>
          <a:xfrm>
            <a:off x="9390960" y="3383280"/>
            <a:ext cx="178272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Redis + Celery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9390960" y="3694320"/>
            <a:ext cx="1782720" cy="5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Cola asíncrona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Notificaciones · tareas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640080" y="4883040"/>
            <a:ext cx="1416960" cy="776880"/>
          </a:xfrm>
          <a:prstGeom prst="roundRect">
            <a:avLst>
              <a:gd fmla="val 5882" name="adj"/>
            </a:avLst>
          </a:prstGeom>
          <a:solidFill>
            <a:srgbClr val="1F386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40080" y="4883040"/>
            <a:ext cx="141696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550" lIns="25550" spcFirstLastPara="1" rIns="25550" wrap="square" tIns="25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DATOS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6"/>
          <p:cNvSpPr/>
          <p:nvPr/>
        </p:nvSpPr>
        <p:spPr>
          <a:xfrm>
            <a:off x="2194560" y="4883040"/>
            <a:ext cx="9326520" cy="776880"/>
          </a:xfrm>
          <a:prstGeom prst="roundRect">
            <a:avLst>
              <a:gd fmla="val 4706" name="adj"/>
            </a:avLst>
          </a:prstGeom>
          <a:solidFill>
            <a:srgbClr val="EAF0F7"/>
          </a:solidFill>
          <a:ln cap="flat" cmpd="sng" w="12700">
            <a:solidFill>
              <a:srgbClr val="AEC2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2331720" y="4946760"/>
            <a:ext cx="3657240" cy="219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E4D7B"/>
                </a:solidFill>
                <a:latin typeface="Arial"/>
                <a:ea typeface="Arial"/>
                <a:cs typeface="Arial"/>
                <a:sym typeface="Arial"/>
              </a:rPr>
              <a:t>VPC · Subred privada</a:t>
            </a:r>
            <a:endParaRPr b="0" i="0" sz="9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6"/>
          <p:cNvSpPr/>
          <p:nvPr/>
        </p:nvSpPr>
        <p:spPr>
          <a:xfrm>
            <a:off x="5029200" y="5193720"/>
            <a:ext cx="3657240" cy="383760"/>
          </a:xfrm>
          <a:prstGeom prst="roundRect">
            <a:avLst>
              <a:gd fmla="val 11905" name="adj"/>
            </a:avLst>
          </a:prstGeom>
          <a:solidFill>
            <a:srgbClr val="FFFFFF"/>
          </a:solidFill>
          <a:ln cap="flat" cmpd="sng" w="12700">
            <a:solidFill>
              <a:srgbClr val="D5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42" name="Google Shape;242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166360" y="525780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"/>
          <p:cNvSpPr/>
          <p:nvPr/>
        </p:nvSpPr>
        <p:spPr>
          <a:xfrm>
            <a:off x="5486400" y="5193720"/>
            <a:ext cx="3108600" cy="383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Amazon RDS · PostgreSQL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4" name="Google Shape;244;p6"/>
          <p:cNvCxnSpPr/>
          <p:nvPr/>
        </p:nvCxnSpPr>
        <p:spPr>
          <a:xfrm>
            <a:off x="6858000" y="4361400"/>
            <a:ext cx="360" cy="668160"/>
          </a:xfrm>
          <a:prstGeom prst="straightConnector1">
            <a:avLst/>
          </a:prstGeom>
          <a:noFill/>
          <a:ln cap="flat" cmpd="sng" w="19050">
            <a:solidFill>
              <a:srgbClr val="9FB0C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5" name="Google Shape;245;p6"/>
          <p:cNvCxnSpPr/>
          <p:nvPr/>
        </p:nvCxnSpPr>
        <p:spPr>
          <a:xfrm flipH="1">
            <a:off x="6309360" y="5029200"/>
            <a:ext cx="549000" cy="360"/>
          </a:xfrm>
          <a:prstGeom prst="straightConnector1">
            <a:avLst/>
          </a:prstGeom>
          <a:noFill/>
          <a:ln cap="flat" cmpd="sng" w="19050">
            <a:solidFill>
              <a:srgbClr val="9FB0C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6" name="Google Shape;246;p6"/>
          <p:cNvCxnSpPr/>
          <p:nvPr/>
        </p:nvCxnSpPr>
        <p:spPr>
          <a:xfrm>
            <a:off x="6309360" y="5029200"/>
            <a:ext cx="360" cy="164880"/>
          </a:xfrm>
          <a:prstGeom prst="straightConnector1">
            <a:avLst/>
          </a:prstGeom>
          <a:noFill/>
          <a:ln cap="flat" cmpd="sng" w="19050">
            <a:solidFill>
              <a:srgbClr val="9FB0C6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47" name="Google Shape;247;p6"/>
          <p:cNvCxnSpPr/>
          <p:nvPr/>
        </p:nvCxnSpPr>
        <p:spPr>
          <a:xfrm>
            <a:off x="9921240" y="4361400"/>
            <a:ext cx="360" cy="668160"/>
          </a:xfrm>
          <a:prstGeom prst="straightConnector1">
            <a:avLst/>
          </a:prstGeom>
          <a:noFill/>
          <a:ln cap="flat" cmpd="sng" w="19050">
            <a:solidFill>
              <a:srgbClr val="9FB0C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8" name="Google Shape;248;p6"/>
          <p:cNvCxnSpPr/>
          <p:nvPr/>
        </p:nvCxnSpPr>
        <p:spPr>
          <a:xfrm>
            <a:off x="7406640" y="5029200"/>
            <a:ext cx="2514960" cy="360"/>
          </a:xfrm>
          <a:prstGeom prst="straightConnector1">
            <a:avLst/>
          </a:prstGeom>
          <a:noFill/>
          <a:ln cap="flat" cmpd="sng" w="19050">
            <a:solidFill>
              <a:srgbClr val="9FB0C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9" name="Google Shape;249;p6"/>
          <p:cNvCxnSpPr/>
          <p:nvPr/>
        </p:nvCxnSpPr>
        <p:spPr>
          <a:xfrm>
            <a:off x="7406640" y="5029200"/>
            <a:ext cx="360" cy="164880"/>
          </a:xfrm>
          <a:prstGeom prst="straightConnector1">
            <a:avLst/>
          </a:prstGeom>
          <a:noFill/>
          <a:ln cap="flat" cmpd="sng" w="19050">
            <a:solidFill>
              <a:srgbClr val="9FB0C6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50" name="Google Shape;250;p6"/>
          <p:cNvSpPr/>
          <p:nvPr/>
        </p:nvSpPr>
        <p:spPr>
          <a:xfrm>
            <a:off x="640080" y="5888880"/>
            <a:ext cx="10881000" cy="749520"/>
          </a:xfrm>
          <a:prstGeom prst="roundRect">
            <a:avLst>
              <a:gd fmla="val 6098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6"/>
          <p:cNvSpPr/>
          <p:nvPr/>
        </p:nvSpPr>
        <p:spPr>
          <a:xfrm>
            <a:off x="868680" y="5980320"/>
            <a:ext cx="10515240" cy="200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SERVICIOS DE APOYO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868680" y="6199560"/>
            <a:ext cx="104238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S3 </a:t>
            </a: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(Celery sube · Backend firma URLs)  ·  </a:t>
            </a:r>
            <a:r>
              <a:rPr b="1" i="0" lang="en-US" sz="10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Secrets Manager + IAM </a:t>
            </a: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(credenciales cargadas con Rust)  ·  </a:t>
            </a:r>
            <a:r>
              <a:rPr b="1" i="0" lang="en-US" sz="10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FCM </a:t>
            </a: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(Celery → push)  ·  </a:t>
            </a:r>
            <a:r>
              <a:rPr b="1" i="0" lang="en-US" sz="10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GitHub Actions </a:t>
            </a:r>
            <a:r>
              <a:rPr b="0" i="0" lang="en-US" sz="105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(CI/CD)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6"/>
          <p:cNvSpPr/>
          <p:nvPr/>
        </p:nvSpPr>
        <p:spPr>
          <a:xfrm>
            <a:off x="640080" y="6446520"/>
            <a:ext cx="54860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IMSGA · Proyecto de Título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6"/>
          <p:cNvSpPr/>
          <p:nvPr/>
        </p:nvSpPr>
        <p:spPr>
          <a:xfrm>
            <a:off x="11338560" y="644652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55" name="Google Shape;255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09280" y="1637280"/>
            <a:ext cx="420120" cy="420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56" name="Google Shape;256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100960" y="1637280"/>
            <a:ext cx="420120" cy="420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424640" y="3157200"/>
            <a:ext cx="685800" cy="545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0775880" y="3218760"/>
            <a:ext cx="516600" cy="502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7"/>
          <p:cNvSpPr/>
          <p:nvPr/>
        </p:nvSpPr>
        <p:spPr>
          <a:xfrm>
            <a:off x="640080" y="411480"/>
            <a:ext cx="108810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BAJO EL CAPÓ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640080" y="676800"/>
            <a:ext cx="10881000" cy="63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Decisiones técnicas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6" name="Google Shape;266;p7"/>
          <p:cNvCxnSpPr/>
          <p:nvPr/>
        </p:nvCxnSpPr>
        <p:spPr>
          <a:xfrm>
            <a:off x="658080" y="1371600"/>
            <a:ext cx="1006200" cy="360"/>
          </a:xfrm>
          <a:prstGeom prst="straightConnector1">
            <a:avLst/>
          </a:prstGeom>
          <a:noFill/>
          <a:ln cap="flat" cmpd="sng" w="31750">
            <a:solidFill>
              <a:srgbClr val="2F8F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7"/>
          <p:cNvSpPr/>
          <p:nvPr/>
        </p:nvSpPr>
        <p:spPr>
          <a:xfrm>
            <a:off x="640080" y="1691640"/>
            <a:ext cx="5348880" cy="2148480"/>
          </a:xfrm>
          <a:prstGeom prst="roundRect">
            <a:avLst>
              <a:gd fmla="val 2979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932760" y="2057400"/>
            <a:ext cx="822600" cy="82260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69" name="Google Shape;26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34000" y="2258640"/>
            <a:ext cx="420120" cy="42012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"/>
          <p:cNvSpPr/>
          <p:nvPr/>
        </p:nvSpPr>
        <p:spPr>
          <a:xfrm>
            <a:off x="1920240" y="2057400"/>
            <a:ext cx="384012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Módulo en Rust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1920240" y="2496240"/>
            <a:ext cx="3794400" cy="118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La clave del sistema vive en un módulo nativo (PyO3) con zeroización de memoria y aislamiento por OnceLock. Firma + hash en un único componente auditable.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7"/>
          <p:cNvSpPr/>
          <p:nvPr/>
        </p:nvSpPr>
        <p:spPr>
          <a:xfrm>
            <a:off x="6172200" y="1691640"/>
            <a:ext cx="5348880" cy="2148480"/>
          </a:xfrm>
          <a:prstGeom prst="roundRect">
            <a:avLst>
              <a:gd fmla="val 2979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6464880" y="2057400"/>
            <a:ext cx="822600" cy="82260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74" name="Google Shape;27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66120" y="2258640"/>
            <a:ext cx="420120" cy="42012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7"/>
          <p:cNvSpPr/>
          <p:nvPr/>
        </p:nvSpPr>
        <p:spPr>
          <a:xfrm>
            <a:off x="7452360" y="2057400"/>
            <a:ext cx="384012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Procesamiento asíncrono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7452360" y="2496240"/>
            <a:ext cx="3794400" cy="118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Celery + Redis en instancia dedicada desacoplan notificaciones push y auditoría del ciclo request/response.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640080" y="4005000"/>
            <a:ext cx="5348880" cy="2148480"/>
          </a:xfrm>
          <a:prstGeom prst="roundRect">
            <a:avLst>
              <a:gd fmla="val 2979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932760" y="4370760"/>
            <a:ext cx="822600" cy="82260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79" name="Google Shape;279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34000" y="4572000"/>
            <a:ext cx="420120" cy="42012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7"/>
          <p:cNvSpPr/>
          <p:nvPr/>
        </p:nvSpPr>
        <p:spPr>
          <a:xfrm>
            <a:off x="1920240" y="4370760"/>
            <a:ext cx="384012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Secretos gestionados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1920240" y="4809600"/>
            <a:ext cx="3794400" cy="118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Credenciales en AWS Secrets Manager (no en texto plano), acceso por roles IAM. Cifrado AES-256 en reposo y TLS en tránsito, nada en disco, todo en memoria.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6172200" y="4005000"/>
            <a:ext cx="5348880" cy="2148480"/>
          </a:xfrm>
          <a:prstGeom prst="roundRect">
            <a:avLst>
              <a:gd fmla="val 2979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6464880" y="4370760"/>
            <a:ext cx="822600" cy="822600"/>
          </a:xfrm>
          <a:prstGeom prst="ellipse">
            <a:avLst/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84" name="Google Shape;28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66120" y="4572000"/>
            <a:ext cx="420120" cy="42012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"/>
          <p:cNvSpPr/>
          <p:nvPr/>
        </p:nvSpPr>
        <p:spPr>
          <a:xfrm>
            <a:off x="7452360" y="4370760"/>
            <a:ext cx="3840120" cy="411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React y React Native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7"/>
          <p:cNvSpPr/>
          <p:nvPr/>
        </p:nvSpPr>
        <p:spPr>
          <a:xfrm>
            <a:off x="7452360" y="4809600"/>
            <a:ext cx="3794400" cy="118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React Native para móvil, elegido por su arquitectura basada en componentes; el mismo enfoque se extiende a React en la web, reutilizando interfaz en vez de construir desde cero.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40080" y="6446520"/>
            <a:ext cx="54860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IMSGA · Proyecto de Título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7"/>
          <p:cNvSpPr/>
          <p:nvPr/>
        </p:nvSpPr>
        <p:spPr>
          <a:xfrm>
            <a:off x="11338560" y="644652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8"/>
          <p:cNvSpPr/>
          <p:nvPr/>
        </p:nvSpPr>
        <p:spPr>
          <a:xfrm>
            <a:off x="640080" y="411480"/>
            <a:ext cx="108810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EVIDENCIA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640080" y="676800"/>
            <a:ext cx="10881000" cy="63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Resultados de pruebas de carga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6" name="Google Shape;296;p8"/>
          <p:cNvCxnSpPr/>
          <p:nvPr/>
        </p:nvCxnSpPr>
        <p:spPr>
          <a:xfrm>
            <a:off x="658080" y="1371600"/>
            <a:ext cx="1006200" cy="360"/>
          </a:xfrm>
          <a:prstGeom prst="straightConnector1">
            <a:avLst/>
          </a:prstGeom>
          <a:noFill/>
          <a:ln cap="flat" cmpd="sng" w="31750">
            <a:solidFill>
              <a:srgbClr val="2F8F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" name="Google Shape;297;p8"/>
          <p:cNvSpPr/>
          <p:nvPr/>
        </p:nvSpPr>
        <p:spPr>
          <a:xfrm>
            <a:off x="640080" y="1828800"/>
            <a:ext cx="3501720" cy="2194200"/>
          </a:xfrm>
          <a:prstGeom prst="roundRect">
            <a:avLst>
              <a:gd fmla="val 3333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640080" y="2194560"/>
            <a:ext cx="350172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~650</a:t>
            </a:r>
            <a:endParaRPr b="0" i="0" sz="4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640080" y="3154680"/>
            <a:ext cx="350172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peticiones concurrentes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868680" y="3547800"/>
            <a:ext cx="30445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0% de error sostenido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4325040" y="1828800"/>
            <a:ext cx="3501720" cy="2194200"/>
          </a:xfrm>
          <a:prstGeom prst="roundRect">
            <a:avLst>
              <a:gd fmla="val 3333" name="adj"/>
            </a:avLst>
          </a:prstGeom>
          <a:solidFill>
            <a:srgbClr val="FFFFFF"/>
          </a:solidFill>
          <a:ln cap="flat" cmpd="sng" w="12700">
            <a:solidFill>
              <a:srgbClr val="E3E9F1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4325040" y="2194560"/>
            <a:ext cx="350172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~921</a:t>
            </a:r>
            <a:endParaRPr b="0" i="0" sz="4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8"/>
          <p:cNvSpPr/>
          <p:nvPr/>
        </p:nvSpPr>
        <p:spPr>
          <a:xfrm>
            <a:off x="4325040" y="3154680"/>
            <a:ext cx="350172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punto de quiebre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4553640" y="3547800"/>
            <a:ext cx="30445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con configuración optimizada (gthread)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8010000" y="1828800"/>
            <a:ext cx="3501720" cy="2194200"/>
          </a:xfrm>
          <a:prstGeom prst="roundRect">
            <a:avLst>
              <a:gd fmla="val 3333" name="adj"/>
            </a:avLst>
          </a:prstGeom>
          <a:solidFill>
            <a:srgbClr val="1F3864"/>
          </a:solidFill>
          <a:ln cap="flat" cmpd="sng" w="12700">
            <a:solidFill>
              <a:srgbClr val="1F3864"/>
            </a:solidFill>
            <a:prstDash val="solid"/>
            <a:round/>
            <a:headEnd len="sm" w="sm" type="none"/>
            <a:tailEnd len="sm" w="sm" type="none"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8010000" y="2194560"/>
            <a:ext cx="350172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80×</a:t>
            </a:r>
            <a:endParaRPr b="0" i="0" sz="4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8010000" y="3154680"/>
            <a:ext cx="350172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 demanda real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8238600" y="3547800"/>
            <a:ext cx="30445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ADAEE"/>
                </a:solidFill>
                <a:latin typeface="Arial"/>
                <a:ea typeface="Arial"/>
                <a:cs typeface="Arial"/>
                <a:sym typeface="Arial"/>
              </a:rPr>
              <a:t>margen sobre el uso operativo del cliente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640080" y="4297680"/>
            <a:ext cx="10881000" cy="1371240"/>
          </a:xfrm>
          <a:prstGeom prst="roundRect">
            <a:avLst>
              <a:gd fmla="val 4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914400" y="4480560"/>
            <a:ext cx="1033236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La demanda operativa real del cliente es de ~10 personas trabajando en simultáneo.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914400" y="4864680"/>
            <a:ext cx="10332360" cy="731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Pasar de worker sync a gthread (2 workers, 4 threads) elevó el punto de quiebre de ~700 a ~921 concurrentes sin aumentar el uso de memoria. El sistema soporta picos muy por encima de cualquier escenario operativo realista de IMS Ambulancias.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640080" y="6446520"/>
            <a:ext cx="54860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IMSGA · Proyecto de Título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11338560" y="644652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9"/>
          <p:cNvSpPr/>
          <p:nvPr/>
        </p:nvSpPr>
        <p:spPr>
          <a:xfrm>
            <a:off x="640080" y="411480"/>
            <a:ext cx="1088100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F8FA8"/>
                </a:solidFill>
                <a:latin typeface="Arial"/>
                <a:ea typeface="Arial"/>
                <a:cs typeface="Arial"/>
                <a:sym typeface="Arial"/>
              </a:rPr>
              <a:t>DEMOSTRACIÓN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640080" y="676800"/>
            <a:ext cx="10881000" cy="63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Flujo del sistema, de principio a fin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1" name="Google Shape;321;p9"/>
          <p:cNvCxnSpPr/>
          <p:nvPr/>
        </p:nvCxnSpPr>
        <p:spPr>
          <a:xfrm>
            <a:off x="658080" y="1371600"/>
            <a:ext cx="1006200" cy="360"/>
          </a:xfrm>
          <a:prstGeom prst="straightConnector1">
            <a:avLst/>
          </a:prstGeom>
          <a:noFill/>
          <a:ln cap="flat" cmpd="sng" w="31750">
            <a:solidFill>
              <a:srgbClr val="2F8F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2" name="Google Shape;322;p9"/>
          <p:cNvSpPr/>
          <p:nvPr/>
        </p:nvSpPr>
        <p:spPr>
          <a:xfrm>
            <a:off x="928080" y="2651760"/>
            <a:ext cx="1051200" cy="1051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23" name="Google Shape;32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5440" y="2944440"/>
            <a:ext cx="456840" cy="45684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9"/>
          <p:cNvSpPr/>
          <p:nvPr/>
        </p:nvSpPr>
        <p:spPr>
          <a:xfrm>
            <a:off x="640080" y="3840480"/>
            <a:ext cx="162720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Llamado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548640" y="4160520"/>
            <a:ext cx="18100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Control recibe la solicitud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6" name="Google Shape;326;p9"/>
          <p:cNvCxnSpPr/>
          <p:nvPr/>
        </p:nvCxnSpPr>
        <p:spPr>
          <a:xfrm>
            <a:off x="2267640" y="3177360"/>
            <a:ext cx="799560" cy="360"/>
          </a:xfrm>
          <a:prstGeom prst="straightConnector1">
            <a:avLst/>
          </a:prstGeom>
          <a:noFill/>
          <a:ln cap="flat" cmpd="sng" w="19050">
            <a:solidFill>
              <a:srgbClr val="C2CCD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27" name="Google Shape;327;p9"/>
          <p:cNvSpPr/>
          <p:nvPr/>
        </p:nvSpPr>
        <p:spPr>
          <a:xfrm>
            <a:off x="2778840" y="2651760"/>
            <a:ext cx="1051200" cy="1051200"/>
          </a:xfrm>
          <a:prstGeom prst="ellipse">
            <a:avLst/>
          </a:prstGeom>
          <a:solidFill>
            <a:srgbClr val="2F8FA8"/>
          </a:solidFill>
          <a:ln>
            <a:noFill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28" name="Google Shape;328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76200" y="2944440"/>
            <a:ext cx="456840" cy="45684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9"/>
          <p:cNvSpPr/>
          <p:nvPr/>
        </p:nvSpPr>
        <p:spPr>
          <a:xfrm>
            <a:off x="2490840" y="3840480"/>
            <a:ext cx="162720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Despacho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2399400" y="4160520"/>
            <a:ext cx="18100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Se asigna equipo y móvil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1" name="Google Shape;331;p9"/>
          <p:cNvCxnSpPr/>
          <p:nvPr/>
        </p:nvCxnSpPr>
        <p:spPr>
          <a:xfrm>
            <a:off x="4118400" y="3177360"/>
            <a:ext cx="799560" cy="360"/>
          </a:xfrm>
          <a:prstGeom prst="straightConnector1">
            <a:avLst/>
          </a:prstGeom>
          <a:noFill/>
          <a:ln cap="flat" cmpd="sng" w="19050">
            <a:solidFill>
              <a:srgbClr val="C2CCD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32" name="Google Shape;332;p9"/>
          <p:cNvSpPr/>
          <p:nvPr/>
        </p:nvSpPr>
        <p:spPr>
          <a:xfrm>
            <a:off x="4629600" y="2651760"/>
            <a:ext cx="1051200" cy="1051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33" name="Google Shape;333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26960" y="2944440"/>
            <a:ext cx="456840" cy="45684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9"/>
          <p:cNvSpPr/>
          <p:nvPr/>
        </p:nvSpPr>
        <p:spPr>
          <a:xfrm>
            <a:off x="4341600" y="3840480"/>
            <a:ext cx="162720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Notificación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4250160" y="4160520"/>
            <a:ext cx="18100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Push al equipo en terreno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6" name="Google Shape;336;p9"/>
          <p:cNvCxnSpPr/>
          <p:nvPr/>
        </p:nvCxnSpPr>
        <p:spPr>
          <a:xfrm>
            <a:off x="5969160" y="3177360"/>
            <a:ext cx="799560" cy="360"/>
          </a:xfrm>
          <a:prstGeom prst="straightConnector1">
            <a:avLst/>
          </a:prstGeom>
          <a:noFill/>
          <a:ln cap="flat" cmpd="sng" w="19050">
            <a:solidFill>
              <a:srgbClr val="C2CCD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37" name="Google Shape;337;p9"/>
          <p:cNvSpPr/>
          <p:nvPr/>
        </p:nvSpPr>
        <p:spPr>
          <a:xfrm>
            <a:off x="6480360" y="2651760"/>
            <a:ext cx="1051200" cy="1051200"/>
          </a:xfrm>
          <a:prstGeom prst="ellipse">
            <a:avLst/>
          </a:prstGeom>
          <a:solidFill>
            <a:srgbClr val="2F8FA8"/>
          </a:solidFill>
          <a:ln>
            <a:noFill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38" name="Google Shape;33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77360" y="2944440"/>
            <a:ext cx="456840" cy="45684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9"/>
          <p:cNvSpPr/>
          <p:nvPr/>
        </p:nvSpPr>
        <p:spPr>
          <a:xfrm>
            <a:off x="6192360" y="3840480"/>
            <a:ext cx="162720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6100920" y="4160520"/>
            <a:ext cx="18100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Registro de ficha + insumos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1" name="Google Shape;341;p9"/>
          <p:cNvCxnSpPr/>
          <p:nvPr/>
        </p:nvCxnSpPr>
        <p:spPr>
          <a:xfrm>
            <a:off x="7819920" y="3177360"/>
            <a:ext cx="799560" cy="360"/>
          </a:xfrm>
          <a:prstGeom prst="straightConnector1">
            <a:avLst/>
          </a:prstGeom>
          <a:noFill/>
          <a:ln cap="flat" cmpd="sng" w="19050">
            <a:solidFill>
              <a:srgbClr val="C2CCD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42" name="Google Shape;342;p9"/>
          <p:cNvSpPr/>
          <p:nvPr/>
        </p:nvSpPr>
        <p:spPr>
          <a:xfrm>
            <a:off x="8331120" y="2651760"/>
            <a:ext cx="1051200" cy="1051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43" name="Google Shape;343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28120" y="2944440"/>
            <a:ext cx="456840" cy="45684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9"/>
          <p:cNvSpPr/>
          <p:nvPr/>
        </p:nvSpPr>
        <p:spPr>
          <a:xfrm>
            <a:off x="8043120" y="3840480"/>
            <a:ext cx="162720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Firma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9"/>
          <p:cNvSpPr/>
          <p:nvPr/>
        </p:nvSpPr>
        <p:spPr>
          <a:xfrm>
            <a:off x="7951680" y="4160520"/>
            <a:ext cx="18100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Ficha firmada (Ed25519)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6" name="Google Shape;346;p9"/>
          <p:cNvCxnSpPr/>
          <p:nvPr/>
        </p:nvCxnSpPr>
        <p:spPr>
          <a:xfrm>
            <a:off x="9670680" y="3177360"/>
            <a:ext cx="799560" cy="360"/>
          </a:xfrm>
          <a:prstGeom prst="straightConnector1">
            <a:avLst/>
          </a:prstGeom>
          <a:noFill/>
          <a:ln cap="flat" cmpd="sng" w="19050">
            <a:solidFill>
              <a:srgbClr val="C2CCD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47" name="Google Shape;347;p9"/>
          <p:cNvSpPr/>
          <p:nvPr/>
        </p:nvSpPr>
        <p:spPr>
          <a:xfrm>
            <a:off x="10181880" y="2651760"/>
            <a:ext cx="1051200" cy="1051200"/>
          </a:xfrm>
          <a:prstGeom prst="ellipse">
            <a:avLst/>
          </a:prstGeom>
          <a:solidFill>
            <a:srgbClr val="2F8FA8"/>
          </a:solidFill>
          <a:ln>
            <a:noFill/>
          </a:ln>
          <a:effectLst>
            <a:outerShdw blurRad="88920" rotWithShape="0" algn="bl" dir="5400000" dist="3816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48" name="Google Shape;348;p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478880" y="2944440"/>
            <a:ext cx="456840" cy="45684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9"/>
          <p:cNvSpPr/>
          <p:nvPr/>
        </p:nvSpPr>
        <p:spPr>
          <a:xfrm>
            <a:off x="9893880" y="3840480"/>
            <a:ext cx="162720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Verificación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9"/>
          <p:cNvSpPr/>
          <p:nvPr/>
        </p:nvSpPr>
        <p:spPr>
          <a:xfrm>
            <a:off x="9802440" y="4160520"/>
            <a:ext cx="181008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Validación pública por QR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9"/>
          <p:cNvSpPr/>
          <p:nvPr/>
        </p:nvSpPr>
        <p:spPr>
          <a:xfrm>
            <a:off x="640080" y="5212080"/>
            <a:ext cx="10881000" cy="776880"/>
          </a:xfrm>
          <a:prstGeom prst="roundRect">
            <a:avLst>
              <a:gd fmla="val 7059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"/>
          <p:cNvSpPr/>
          <p:nvPr/>
        </p:nvSpPr>
        <p:spPr>
          <a:xfrm>
            <a:off x="914400" y="5285160"/>
            <a:ext cx="10332360" cy="63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rPr>
              <a:t>Demo en vivo. </a:t>
            </a:r>
            <a:r>
              <a:rPr b="0" i="0" lang="en-US" sz="1300" u="none" cap="none" strike="noStrike">
                <a:solidFill>
                  <a:srgbClr val="323A45"/>
                </a:solidFill>
                <a:latin typeface="Arial"/>
                <a:ea typeface="Arial"/>
                <a:cs typeface="Arial"/>
                <a:sym typeface="Arial"/>
              </a:rPr>
              <a:t>A continuación recorremos este flujo directamente sobre el sistema en producción.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40080" y="6446520"/>
            <a:ext cx="54860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IMSGA · Proyecto de Título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11338560" y="644652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686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3864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0"/>
          <p:cNvSpPr/>
          <p:nvPr/>
        </p:nvSpPr>
        <p:spPr>
          <a:xfrm>
            <a:off x="0" y="0"/>
            <a:ext cx="12161160" cy="109440"/>
          </a:xfrm>
          <a:prstGeom prst="rect">
            <a:avLst/>
          </a:prstGeom>
          <a:solidFill>
            <a:srgbClr val="2F8FA8"/>
          </a:solidFill>
          <a:ln>
            <a:noFill/>
          </a:ln>
        </p:spPr>
        <p:txBody>
          <a:bodyPr anchorCtr="0" anchor="ctr" bIns="54700" lIns="91425" spcFirstLastPara="1" rIns="91425" wrap="square" tIns="54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822960" y="1371600"/>
            <a:ext cx="10515240" cy="1096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 sistema alineado con el Chile que la ley ya exige</a:t>
            </a:r>
            <a:endParaRPr b="0" i="0" sz="3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2" name="Google Shape;362;p10"/>
          <p:cNvCxnSpPr/>
          <p:nvPr/>
        </p:nvCxnSpPr>
        <p:spPr>
          <a:xfrm>
            <a:off x="859320" y="2514600"/>
            <a:ext cx="2743560" cy="360"/>
          </a:xfrm>
          <a:prstGeom prst="straightConnector1">
            <a:avLst/>
          </a:prstGeom>
          <a:noFill/>
          <a:ln cap="flat" cmpd="sng" w="31750">
            <a:solidFill>
              <a:srgbClr val="2F8F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3" name="Google Shape;363;p10"/>
          <p:cNvSpPr/>
          <p:nvPr/>
        </p:nvSpPr>
        <p:spPr>
          <a:xfrm>
            <a:off x="914400" y="2834640"/>
            <a:ext cx="10058040" cy="2011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Interoperabilidad FHIR R4B / CL Core que es el estándar</a:t>
            </a:r>
            <a:r>
              <a:rPr lang="en-US" sz="1500">
                <a:solidFill>
                  <a:srgbClr val="FFFFFF"/>
                </a:solidFill>
              </a:rPr>
              <a:t>.</a:t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1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Trazabilidad de autoría y retención a 15 años</a:t>
            </a:r>
            <a:r>
              <a:rPr lang="en-US" sz="1500">
                <a:solidFill>
                  <a:srgbClr val="FFFFFF"/>
                </a:solidFill>
              </a:rPr>
              <a:t>.</a:t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1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Cifrado de datos sensibles en reposo y en tránsit</a:t>
            </a:r>
            <a:r>
              <a:rPr lang="en-US" sz="1500">
                <a:solidFill>
                  <a:srgbClr val="FFFFFF"/>
                </a:solidFill>
              </a:rPr>
              <a:t>o.</a:t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0000"/>
              </a:lnSpc>
              <a:spcBef>
                <a:spcPts val="1001"/>
              </a:spcBef>
              <a:spcAft>
                <a:spcPts val="0"/>
              </a:spcAft>
              <a:buClr>
                <a:srgbClr val="CADAEE"/>
              </a:buClr>
              <a:buSzPts val="1500"/>
              <a:buFont typeface="Arial"/>
              <a:buChar char="•"/>
            </a:pPr>
            <a:r>
              <a:rPr b="1" i="0" lang="en-US" sz="1500" u="none" cap="none" strike="noStrike">
                <a:solidFill>
                  <a:srgbClr val="CADAEE"/>
                </a:solidFill>
                <a:latin typeface="Arial"/>
                <a:ea typeface="Arial"/>
                <a:cs typeface="Arial"/>
                <a:sym typeface="Arial"/>
              </a:rPr>
              <a:t>Para IMS Ambulancias: menos tiempo en administración, cero papel, trazabilidad total.</a:t>
            </a:r>
            <a:endParaRPr b="0" i="0" sz="1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914400" y="5166360"/>
            <a:ext cx="100580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8FA6C6"/>
                </a:solidFill>
                <a:latin typeface="Arial"/>
                <a:ea typeface="Arial"/>
                <a:cs typeface="Arial"/>
                <a:sym typeface="Arial"/>
              </a:rPr>
              <a:t>Diseñado conforme a los estándares que la normativa exige. El reglamento técnico final del MINSAL aún está en definición.</a:t>
            </a:r>
            <a:endParaRPr b="0" i="0" sz="10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822960" y="5715000"/>
            <a:ext cx="10515240" cy="54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Gracias · Preguntas</a:t>
            </a:r>
            <a:endParaRPr b="0" i="0" sz="2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2026-06-27T04:44:13Z</dcterms:created>
  <dc:creator>Grupo03 — Leonardo Vera · Pascal Coloma · Diego Valencia</dc:creator>
</cp:coreProperties>
</file>