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iI8g/xybE2tzUSesCzmV45Tpo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13" Type="http://schemas.openxmlformats.org/officeDocument/2006/relationships/image" Target="../media/image1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4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39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Relationship Id="rId6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IMSGA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49808" y="3291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AEE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CADAEE"/>
                </a:solidFill>
                <a:latin typeface="Arial"/>
                <a:ea typeface="Arial"/>
                <a:cs typeface="Arial"/>
                <a:sym typeface="Arial"/>
              </a:rPr>
              <a:t>Sistema Gestor de Ambulancias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9808" y="39776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6D6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FB6D6"/>
                </a:solidFill>
                <a:latin typeface="Arial"/>
                <a:ea typeface="Arial"/>
                <a:cs typeface="Arial"/>
                <a:sym typeface="Arial"/>
              </a:rPr>
              <a:t>De la gestión manual al flujo automatizado: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6D6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FB6D6"/>
                </a:solidFill>
                <a:latin typeface="Arial"/>
                <a:ea typeface="Arial"/>
                <a:cs typeface="Arial"/>
                <a:sym typeface="Arial"/>
              </a:rPr>
              <a:t>tiempo y trazabilidad para IMS Ambulancias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768096" y="502920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768096" y="52120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Leonardo Vera · Pascal Coloma · Diego Valencia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FB6D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B6D6"/>
                </a:solidFill>
                <a:latin typeface="Arial"/>
                <a:ea typeface="Arial"/>
                <a:cs typeface="Arial"/>
                <a:sym typeface="Arial"/>
              </a:rPr>
              <a:t>Proyecto de Título · DUOC UC ·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1463040"/>
            <a:ext cx="5577840" cy="5074920"/>
          </a:xfrm>
          <a:prstGeom prst="roundRect">
            <a:avLst>
              <a:gd fmla="val 1081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1463040"/>
            <a:ext cx="5577840" cy="502920"/>
          </a:xfrm>
          <a:prstGeom prst="roundRect">
            <a:avLst>
              <a:gd fmla="val 10909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4630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13232" y="2313432"/>
            <a:ext cx="530352" cy="53035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2441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417320" y="224028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Despacho sin flujo definido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17320" y="253288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Sin visibilidad del estado de cada solicitud en tiempo real.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685800" y="3063240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713232" y="3337560"/>
            <a:ext cx="530352" cy="53035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2" y="34655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417320" y="326440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Estado de móviles desconocido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17320" y="355701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Sin saber qué ambulancia está disponible al momento de asignar.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685800" y="4087368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713232" y="4361688"/>
            <a:ext cx="530352" cy="53035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" y="44897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417320" y="4288536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Inventario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17320" y="4581144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Conteo a mano, propenso a errores y quiebres de stock.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685800" y="5111496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713232" y="5385816"/>
            <a:ext cx="530352" cy="53035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" y="55138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417320" y="5312664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Fichas sin autoría ni integridad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17320" y="5605272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Sin prueba de quién atendió ni de que el registro no fue alterado.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55080" y="1463040"/>
            <a:ext cx="5486400" cy="5074920"/>
          </a:xfrm>
          <a:prstGeom prst="roundRect">
            <a:avLst>
              <a:gd fmla="val 1081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355080" y="1463040"/>
            <a:ext cx="5486400" cy="502920"/>
          </a:xfrm>
          <a:prstGeom prst="roundRect">
            <a:avLst>
              <a:gd fmla="val 10909" name="adj"/>
            </a:avLst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355080" y="146304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SOLUCIÓN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611112" y="2313432"/>
            <a:ext cx="530352" cy="530352"/>
          </a:xfrm>
          <a:prstGeom prst="ellipse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8272" y="2441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7315200" y="224028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Despacho con flujo claro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315200" y="2532888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Ciclo completo visible: recibido → asignado → finalizado.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6583680" y="306324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6611112" y="3337560"/>
            <a:ext cx="530352" cy="530352"/>
          </a:xfrm>
          <a:prstGeom prst="ellipse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272" y="34655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7315200" y="326440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Estado de ambulancias en tiempo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315200" y="355701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Disponibilidad actualizada al momento de asignar.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6583680" y="4087368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2"/>
          <p:cNvSpPr/>
          <p:nvPr/>
        </p:nvSpPr>
        <p:spPr>
          <a:xfrm>
            <a:off x="6611112" y="4361688"/>
            <a:ext cx="530352" cy="530352"/>
          </a:xfrm>
          <a:prstGeom prst="ellipse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8272" y="44897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7315200" y="4288536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Stock automatizado por ambulancia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315200" y="4581144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Descuento automático al registrar la atención.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6583680" y="5111496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/>
          <p:nvPr/>
        </p:nvSpPr>
        <p:spPr>
          <a:xfrm>
            <a:off x="6611112" y="5385816"/>
            <a:ext cx="530352" cy="530352"/>
          </a:xfrm>
          <a:prstGeom prst="ellipse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8272" y="55138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7315200" y="5312664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Fichas confiables y trazables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0" y="5605272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Autoría firmada, integridad verificable por QR, exportación FHIR.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51075" y="850450"/>
            <a:ext cx="291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IMSGA · IMS Ambulancias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851063" y="521325"/>
            <a:ext cx="291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Problema y Solución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Dos aplicativos para toda la operación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640080" y="1554480"/>
            <a:ext cx="5394960" cy="4892040"/>
          </a:xfrm>
          <a:prstGeom prst="roundRect">
            <a:avLst>
              <a:gd fmla="val 1495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40080" y="1554480"/>
            <a:ext cx="5394960" cy="1005840"/>
          </a:xfrm>
          <a:prstGeom prst="roundRect">
            <a:avLst>
              <a:gd fmla="val 7273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1645920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Web</a:t>
            </a:r>
            <a:r>
              <a:rPr b="1" lang="en-US" sz="1450">
                <a:solidFill>
                  <a:srgbClr val="FFFFFF"/>
                </a:solidFill>
              </a:rPr>
              <a:t> -</a:t>
            </a: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Centro de Control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645920" y="205740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AE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CADAEE"/>
                </a:solidFill>
                <a:latin typeface="Arial"/>
                <a:ea typeface="Arial"/>
                <a:cs typeface="Arial"/>
                <a:sym typeface="Arial"/>
              </a:rPr>
              <a:t>Para personal de Control en 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14400" y="2788920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96" y="28712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1417320" y="269748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Recepción de llamados y creación de despachos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914400" y="3246120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914400" y="3401568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6696" y="3483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1417320" y="3310128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Asignación de equipos y seguimiento de estado de móviles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914400" y="3858768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914400" y="4014216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696" y="4096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1417320" y="39227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Gestión de inventario global y por ambulancia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914400" y="4471416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/>
          <p:nvPr/>
        </p:nvSpPr>
        <p:spPr>
          <a:xfrm>
            <a:off x="914400" y="4626864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696" y="4709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1417320" y="4535424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Administración de grupos de trabajo y empleados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914400" y="5084064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914400" y="5239512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6696" y="5321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1417320" y="514807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Auditoría de fichas clínicas y logs de atención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914400" y="5696712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914400" y="5852160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6696" y="59344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1417320" y="576072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Descarga de documentos firmados y verificación por QR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0" y="1554480"/>
            <a:ext cx="5394960" cy="4892040"/>
          </a:xfrm>
          <a:prstGeom prst="roundRect">
            <a:avLst>
              <a:gd fmla="val 1495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400800" y="1554480"/>
            <a:ext cx="5394960" cy="1005840"/>
          </a:xfrm>
          <a:prstGeom prst="roundRect">
            <a:avLst>
              <a:gd fmla="val 7273" name="adj"/>
            </a:avLst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75120" y="1783080"/>
            <a:ext cx="566928" cy="566928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1228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7406640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Móvil </a:t>
            </a:r>
            <a:r>
              <a:rPr b="1" lang="en-US" sz="1450">
                <a:solidFill>
                  <a:srgbClr val="FFFFFF"/>
                </a:solidFill>
              </a:rPr>
              <a:t>-</a:t>
            </a: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Personal en Terreno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406640" y="205740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AE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CADAEE"/>
                </a:solidFill>
                <a:latin typeface="Arial"/>
                <a:ea typeface="Arial"/>
                <a:cs typeface="Arial"/>
                <a:sym typeface="Arial"/>
              </a:rPr>
              <a:t>Para médicos, enfermeros y conductores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675120" y="2788920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57416" y="28712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7178040" y="269748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Recepción de notificaciones push de despacho y emergencia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6675120" y="3246120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/>
          <p:nvPr/>
        </p:nvSpPr>
        <p:spPr>
          <a:xfrm>
            <a:off x="6675120" y="3401568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57416" y="3483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7178040" y="3310128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Registro de fichas de atención y signos vitales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>
            <a:off x="6675120" y="3858768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3"/>
          <p:cNvSpPr/>
          <p:nvPr/>
        </p:nvSpPr>
        <p:spPr>
          <a:xfrm>
            <a:off x="6675120" y="4014216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416" y="4096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/>
          <p:nvPr/>
        </p:nvSpPr>
        <p:spPr>
          <a:xfrm>
            <a:off x="7178040" y="3922776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Registro de insumos utilizados durante la atención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6675120" y="4471416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"/>
          <p:cNvSpPr/>
          <p:nvPr/>
        </p:nvSpPr>
        <p:spPr>
          <a:xfrm>
            <a:off x="6675120" y="4626864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57416" y="4709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/>
          <p:nvPr/>
        </p:nvSpPr>
        <p:spPr>
          <a:xfrm>
            <a:off x="7178040" y="4535424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Firma electrónica de la ficha (Ed25519)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3"/>
          <p:cNvCxnSpPr/>
          <p:nvPr/>
        </p:nvCxnSpPr>
        <p:spPr>
          <a:xfrm>
            <a:off x="6675120" y="5084064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3"/>
          <p:cNvSpPr/>
          <p:nvPr/>
        </p:nvSpPr>
        <p:spPr>
          <a:xfrm>
            <a:off x="6675120" y="5239512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57416" y="5321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7178040" y="514807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Actualización del estado operativo de la ambulancia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6675120" y="5696712"/>
            <a:ext cx="484632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3"/>
          <p:cNvSpPr/>
          <p:nvPr/>
        </p:nvSpPr>
        <p:spPr>
          <a:xfrm>
            <a:off x="6675120" y="5852160"/>
            <a:ext cx="347472" cy="347472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7416" y="59344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7178040" y="576072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Registro dinámico de pacientes durante la atención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ALCANCES Y LIMITACIONES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Qué hace el sistema y qué queda fuera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4"/>
          <p:cNvSpPr/>
          <p:nvPr/>
        </p:nvSpPr>
        <p:spPr>
          <a:xfrm>
            <a:off x="640080" y="1600200"/>
            <a:ext cx="6858000" cy="4389120"/>
          </a:xfrm>
          <a:prstGeom prst="roundRect">
            <a:avLst>
              <a:gd fmla="val 1458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40080" y="1600200"/>
            <a:ext cx="6858000" cy="457200"/>
          </a:xfrm>
          <a:prstGeom prst="roundRect">
            <a:avLst>
              <a:gd fmla="val 14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40080" y="16002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 ALCANCES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60120" y="2194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App Web: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331720" y="219456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Gestión completa de despachos, grupos, inventario y auditoría de fichas desde el Centro de Control.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914400" y="2852928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960120" y="294436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App Móvil: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331720" y="2944368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Registro de atenciones, firma de fichas, actualización de estado de móviles y recepción de push desde terreno.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914400" y="3602736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/>
          <p:nvPr/>
        </p:nvSpPr>
        <p:spPr>
          <a:xfrm>
            <a:off x="960120" y="369417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Firma e integridad: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331720" y="3694176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Cada ficha queda firmada con Ed25519 y es verificable públicamente por hash mediante QR.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914400" y="4352544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960120" y="444398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Interoperabilidad: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331720" y="4443984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Exportación de fichas en Bundle FHIR R4B / CL Core, conforme a la Ley 21.668.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4"/>
          <p:cNvCxnSpPr/>
          <p:nvPr/>
        </p:nvCxnSpPr>
        <p:spPr>
          <a:xfrm>
            <a:off x="914400" y="5102352"/>
            <a:ext cx="630936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4"/>
          <p:cNvSpPr/>
          <p:nvPr/>
        </p:nvSpPr>
        <p:spPr>
          <a:xfrm>
            <a:off x="960120" y="519379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Notificaciones: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2331720" y="5193792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Alertas push en tiempo real para despacho, emergencia, atención registrada y finalización.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863840" y="1600200"/>
            <a:ext cx="3977640" cy="4389120"/>
          </a:xfrm>
          <a:prstGeom prst="roundRect">
            <a:avLst>
              <a:gd fmla="val 1609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7863840" y="1600200"/>
            <a:ext cx="3977640" cy="457200"/>
          </a:xfrm>
          <a:prstGeom prst="roundRect">
            <a:avLst>
              <a:gd fmla="val 14000" name="adj"/>
            </a:avLst>
          </a:prstGeom>
          <a:solidFill>
            <a:srgbClr val="8A9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7863840" y="160020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✗  LIMITACIONES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183880" y="21945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A97A8"/>
                </a:solidFill>
                <a:latin typeface="Arial"/>
                <a:ea typeface="Arial"/>
                <a:cs typeface="Arial"/>
                <a:sym typeface="Arial"/>
              </a:rPr>
              <a:t>Sin GPS: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9829800" y="219456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El sistema no valida la posición física del móvil ni ofrece guiado de ruta hacia el punto del despacho.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4"/>
          <p:cNvCxnSpPr/>
          <p:nvPr/>
        </p:nvCxnSpPr>
        <p:spPr>
          <a:xfrm>
            <a:off x="8138160" y="3017520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4"/>
          <p:cNvSpPr/>
          <p:nvPr/>
        </p:nvSpPr>
        <p:spPr>
          <a:xfrm>
            <a:off x="8183880" y="31089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A97A8"/>
                </a:solidFill>
                <a:latin typeface="Arial"/>
                <a:ea typeface="Arial"/>
                <a:cs typeface="Arial"/>
                <a:sym typeface="Arial"/>
              </a:rPr>
              <a:t>Sin </a:t>
            </a:r>
            <a:r>
              <a:rPr b="1" lang="en-US" sz="1100">
                <a:solidFill>
                  <a:srgbClr val="8A97A8"/>
                </a:solidFill>
              </a:rPr>
              <a:t>auto escalado</a:t>
            </a:r>
            <a:r>
              <a:rPr b="1" i="0" lang="en-US" sz="1100" u="none" cap="none" strike="noStrike">
                <a:solidFill>
                  <a:srgbClr val="8A97A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9829800" y="310896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La capacidad es un techo fijo (no hay Auto Scaling Group ni balanceador de carga dinámico).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8138160" y="3931920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8183880" y="40233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A97A8"/>
                </a:solidFill>
                <a:latin typeface="Arial"/>
                <a:ea typeface="Arial"/>
                <a:cs typeface="Arial"/>
                <a:sym typeface="Arial"/>
              </a:rPr>
              <a:t>Sin recuperación de credenciales: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829800" y="402336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No existe autoservicio de recuperación de contraseñas; requiere intervención del equipo de TI.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4"/>
          <p:cNvCxnSpPr/>
          <p:nvPr/>
        </p:nvCxnSpPr>
        <p:spPr>
          <a:xfrm>
            <a:off x="8138160" y="4846320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EDF1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4"/>
          <p:cNvSpPr/>
          <p:nvPr/>
        </p:nvSpPr>
        <p:spPr>
          <a:xfrm>
            <a:off x="8183880" y="49377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8A97A8"/>
                </a:solidFill>
              </a:rPr>
              <a:t>Sin validación física: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9829800" y="4937760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23A45"/>
                </a:solidFill>
              </a:rPr>
              <a:t>El sistema no valida la posición </a:t>
            </a:r>
            <a:r>
              <a:rPr lang="en-US" sz="1050">
                <a:solidFill>
                  <a:srgbClr val="323A45"/>
                </a:solidFill>
              </a:rPr>
              <a:t>física</a:t>
            </a:r>
            <a:r>
              <a:rPr lang="en-US" sz="1050">
                <a:solidFill>
                  <a:srgbClr val="323A45"/>
                </a:solidFill>
              </a:rPr>
              <a:t> de los equipos en terreno.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PLANIFICACIÓN </a:t>
            </a:r>
            <a:r>
              <a:rPr b="1" lang="en-US" sz="1200">
                <a:solidFill>
                  <a:srgbClr val="2F8FA8"/>
                </a:solidFill>
              </a:rPr>
              <a:t>Y 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Carta Gantt del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6"/>
          <p:cNvSpPr/>
          <p:nvPr/>
        </p:nvSpPr>
        <p:spPr>
          <a:xfrm>
            <a:off x="457200" y="6144768"/>
            <a:ext cx="11247120" cy="384048"/>
          </a:xfrm>
          <a:prstGeom prst="roundRect">
            <a:avLst>
              <a:gd fmla="val 9524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40080" y="614476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B7686"/>
                </a:solidFill>
              </a:rPr>
              <a:t>Se utilizaron software como Trello para la organización de las tareas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5" y="1441412"/>
            <a:ext cx="10570560" cy="4578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DEMOSTRACIÓN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Flujo del sistema, de principio a fin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7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7"/>
          <p:cNvSpPr/>
          <p:nvPr/>
        </p:nvSpPr>
        <p:spPr>
          <a:xfrm>
            <a:off x="928116" y="2651760"/>
            <a:ext cx="1051560" cy="10515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296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640080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Llamado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Control recibe la solicitud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2267712" y="3177540"/>
            <a:ext cx="799186" cy="0"/>
          </a:xfrm>
          <a:prstGeom prst="straightConnector1">
            <a:avLst/>
          </a:prstGeom>
          <a:noFill/>
          <a:ln cap="flat" cmpd="sng" w="19050">
            <a:solidFill>
              <a:srgbClr val="C2CCD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7"/>
          <p:cNvSpPr/>
          <p:nvPr/>
        </p:nvSpPr>
        <p:spPr>
          <a:xfrm>
            <a:off x="2778862" y="2651760"/>
            <a:ext cx="1051560" cy="1051560"/>
          </a:xfrm>
          <a:prstGeom prst="ellipse">
            <a:avLst/>
          </a:prstGeom>
          <a:solidFill>
            <a:srgbClr val="2F8FA8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042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2490826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Despacho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399386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Se asigna equipo y móvil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4118458" y="3177540"/>
            <a:ext cx="799186" cy="0"/>
          </a:xfrm>
          <a:prstGeom prst="straightConnector1">
            <a:avLst/>
          </a:prstGeom>
          <a:noFill/>
          <a:ln cap="flat" cmpd="sng" w="19050">
            <a:solidFill>
              <a:srgbClr val="C2CCD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7"/>
          <p:cNvSpPr/>
          <p:nvPr/>
        </p:nvSpPr>
        <p:spPr>
          <a:xfrm>
            <a:off x="4629607" y="2651760"/>
            <a:ext cx="1051560" cy="10515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6787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/>
          <p:nvPr/>
        </p:nvSpPr>
        <p:spPr>
          <a:xfrm>
            <a:off x="4341571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Notificación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250131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Push al equipo en terreno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>
            <a:off x="5969203" y="3177540"/>
            <a:ext cx="799186" cy="0"/>
          </a:xfrm>
          <a:prstGeom prst="straightConnector1">
            <a:avLst/>
          </a:prstGeom>
          <a:noFill/>
          <a:ln cap="flat" cmpd="sng" w="19050">
            <a:solidFill>
              <a:srgbClr val="C2CCD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7"/>
          <p:cNvSpPr/>
          <p:nvPr/>
        </p:nvSpPr>
        <p:spPr>
          <a:xfrm>
            <a:off x="6480353" y="2651760"/>
            <a:ext cx="1051560" cy="1051560"/>
          </a:xfrm>
          <a:prstGeom prst="ellipse">
            <a:avLst/>
          </a:prstGeom>
          <a:solidFill>
            <a:srgbClr val="2F8FA8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533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6192317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100877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Registro de ficha + insumos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7819949" y="3177540"/>
            <a:ext cx="799186" cy="0"/>
          </a:xfrm>
          <a:prstGeom prst="straightConnector1">
            <a:avLst/>
          </a:prstGeom>
          <a:noFill/>
          <a:ln cap="flat" cmpd="sng" w="19050">
            <a:solidFill>
              <a:srgbClr val="C2CCD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7"/>
          <p:cNvSpPr/>
          <p:nvPr/>
        </p:nvSpPr>
        <p:spPr>
          <a:xfrm>
            <a:off x="8331098" y="2651760"/>
            <a:ext cx="1051560" cy="10515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28278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8043062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Firma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951622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Ficha firmada (Ed25519)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7"/>
          <p:cNvCxnSpPr/>
          <p:nvPr/>
        </p:nvCxnSpPr>
        <p:spPr>
          <a:xfrm>
            <a:off x="9670694" y="3177540"/>
            <a:ext cx="799186" cy="0"/>
          </a:xfrm>
          <a:prstGeom prst="straightConnector1">
            <a:avLst/>
          </a:prstGeom>
          <a:noFill/>
          <a:ln cap="flat" cmpd="sng" w="19050">
            <a:solidFill>
              <a:srgbClr val="C2CCD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7"/>
          <p:cNvSpPr/>
          <p:nvPr/>
        </p:nvSpPr>
        <p:spPr>
          <a:xfrm>
            <a:off x="10181844" y="2651760"/>
            <a:ext cx="1051560" cy="1051560"/>
          </a:xfrm>
          <a:prstGeom prst="ellipse">
            <a:avLst/>
          </a:prstGeom>
          <a:solidFill>
            <a:srgbClr val="2F8FA8"/>
          </a:solidFill>
          <a:ln>
            <a:noFill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9024" y="2944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9893808" y="38404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Verificación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802368" y="416052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Validación pública por QR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fmla="val 7059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Demo en vivo. </a:t>
            </a:r>
            <a:r>
              <a:rPr b="0" i="0" lang="en-US" sz="13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A continuación recorremos este flujo directamente sobre el sistema en producción.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DIFERENCIADOR CLAVE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Ficha clínica: autoría, integridad y verificación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8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8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La confianza incorporada por diseño. Cada ficha sabe quién la creó, prueba que no fue alterada, y cualquiera puede verificarla — sin acceso al sistema.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0080" y="2286000"/>
            <a:ext cx="3502152" cy="246888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1888236" y="2606040"/>
            <a:ext cx="1005840" cy="10058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9696" y="2852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640080" y="370332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Autoría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914400" y="4096512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Firma Ed25519 que vincula la ficha al profesional que la creó. No-repudio real.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325112" y="2286000"/>
            <a:ext cx="3502152" cy="246888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573268" y="2606040"/>
            <a:ext cx="1005840" cy="10058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728" y="2852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4325112" y="370332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Integridad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599432" y="4096512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Cualquier alteración posterior invalida la firma. La ficha es inmutable una vez firmada.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010144" y="2286000"/>
            <a:ext cx="3502152" cy="246888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9258300" y="2606040"/>
            <a:ext cx="1005840" cy="10058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760" y="2852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8010144" y="370332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Verificación pública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284464" y="4096512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Escaneando un QR, cualquiera valida autenticidad por hash, sin entrar al sistema.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fmla="val 5455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5257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1600200" y="5074920"/>
            <a:ext cx="9692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Equivale al propósito de la Firma Electrónica Avanzada</a:t>
            </a:r>
            <a:r>
              <a:rPr b="0" i="0" lang="en-US" sz="12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 que el propio Estado exige para garantizar autenticidad e integridad de documentos clínicos.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Arquitectura del sistema en AWS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9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9"/>
          <p:cNvSpPr/>
          <p:nvPr/>
        </p:nvSpPr>
        <p:spPr>
          <a:xfrm>
            <a:off x="640080" y="1554480"/>
            <a:ext cx="1417320" cy="868680"/>
          </a:xfrm>
          <a:prstGeom prst="roundRect">
            <a:avLst>
              <a:gd fmla="val 5263" name="adj"/>
            </a:avLst>
          </a:prstGeom>
          <a:solidFill>
            <a:srgbClr val="2E4D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40080" y="1554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2194560" y="1554480"/>
            <a:ext cx="457200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160" y="1810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>
            <a:off x="297180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Clientes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HTTPS → Frontend(React)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949440" y="1554480"/>
            <a:ext cx="457200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8040" y="1810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772668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App Android (terreno)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HTTPS → Backend (directo)(React Native)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40080" y="2807208"/>
            <a:ext cx="1417320" cy="1691640"/>
          </a:xfrm>
          <a:prstGeom prst="roundRect">
            <a:avLst>
              <a:gd fmla="val 3226" name="adj"/>
            </a:avLst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40080" y="2807208"/>
            <a:ext cx="1417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2194560" y="2807208"/>
            <a:ext cx="9326880" cy="1691640"/>
          </a:xfrm>
          <a:prstGeom prst="roundRect">
            <a:avLst>
              <a:gd fmla="val 2162" name="adj"/>
            </a:avLst>
          </a:prstGeom>
          <a:solidFill>
            <a:srgbClr val="EAF3EC"/>
          </a:solidFill>
          <a:ln cap="flat" cmpd="sng" w="12700">
            <a:solidFill>
              <a:srgbClr val="AFCB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2331720" y="288036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7A4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C7A4E"/>
                </a:solidFill>
                <a:latin typeface="Arial"/>
                <a:ea typeface="Arial"/>
                <a:cs typeface="Arial"/>
                <a:sym typeface="Arial"/>
              </a:rPr>
              <a:t>VPC · Subred pública — 3 instancias EC2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423160" y="3218688"/>
            <a:ext cx="27432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606040" y="3511296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3264408" y="33832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264408" y="3694176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SPA · NGINX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Puerta de entrada 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9"/>
          <p:cNvCxnSpPr/>
          <p:nvPr/>
        </p:nvCxnSpPr>
        <p:spPr>
          <a:xfrm>
            <a:off x="5166360" y="379018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7E8D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9"/>
          <p:cNvSpPr/>
          <p:nvPr/>
        </p:nvSpPr>
        <p:spPr>
          <a:xfrm>
            <a:off x="5486400" y="3218688"/>
            <a:ext cx="27432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669280" y="3511296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6440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9"/>
          <p:cNvSpPr/>
          <p:nvPr/>
        </p:nvSpPr>
        <p:spPr>
          <a:xfrm>
            <a:off x="6327648" y="33832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327648" y="3694176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Django · Gunicorn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Lógica de negocio ·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9"/>
          <p:cNvCxnSpPr/>
          <p:nvPr/>
        </p:nvCxnSpPr>
        <p:spPr>
          <a:xfrm>
            <a:off x="8229600" y="379018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7E8D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9"/>
          <p:cNvSpPr/>
          <p:nvPr/>
        </p:nvSpPr>
        <p:spPr>
          <a:xfrm>
            <a:off x="8549640" y="3218688"/>
            <a:ext cx="27432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8732520" y="3511296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0" y="3648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9390888" y="33832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Redis + Celery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390888" y="3694176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Cola asíncrona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Notificaciones · tareas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40080" y="4882896"/>
            <a:ext cx="1417320" cy="777240"/>
          </a:xfrm>
          <a:prstGeom prst="roundRect">
            <a:avLst>
              <a:gd fmla="val 5882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40080" y="4882896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2194560" y="4882896"/>
            <a:ext cx="9326880" cy="777240"/>
          </a:xfrm>
          <a:prstGeom prst="roundRect">
            <a:avLst>
              <a:gd fmla="val 4706" name="adj"/>
            </a:avLst>
          </a:prstGeom>
          <a:solidFill>
            <a:srgbClr val="EAF0F7"/>
          </a:solidFill>
          <a:ln cap="flat" cmpd="sng" w="12700">
            <a:solidFill>
              <a:srgbClr val="AE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2331720" y="494690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D7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4D7B"/>
                </a:solidFill>
                <a:latin typeface="Arial"/>
                <a:ea typeface="Arial"/>
                <a:cs typeface="Arial"/>
                <a:sym typeface="Arial"/>
              </a:rPr>
              <a:t>VPC · Subred privada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029200" y="5193792"/>
            <a:ext cx="3657600" cy="384048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12700">
            <a:solidFill>
              <a:srgbClr val="D5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66360" y="52578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/>
          <p:nvPr/>
        </p:nvSpPr>
        <p:spPr>
          <a:xfrm>
            <a:off x="5486400" y="519379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Amazon RDS · 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9"/>
          <p:cNvCxnSpPr/>
          <p:nvPr/>
        </p:nvCxnSpPr>
        <p:spPr>
          <a:xfrm>
            <a:off x="6858000" y="4361688"/>
            <a:ext cx="0" cy="667512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/>
          <p:nvPr/>
        </p:nvCxnSpPr>
        <p:spPr>
          <a:xfrm rot="10800000">
            <a:off x="6309360" y="502920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/>
          <p:nvPr/>
        </p:nvCxnSpPr>
        <p:spPr>
          <a:xfrm>
            <a:off x="6309360" y="50292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9"/>
          <p:cNvCxnSpPr/>
          <p:nvPr/>
        </p:nvCxnSpPr>
        <p:spPr>
          <a:xfrm>
            <a:off x="9921240" y="4361688"/>
            <a:ext cx="0" cy="667512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/>
          <p:nvPr/>
        </p:nvCxnSpPr>
        <p:spPr>
          <a:xfrm>
            <a:off x="7406640" y="5029200"/>
            <a:ext cx="2514600" cy="0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9"/>
          <p:cNvCxnSpPr/>
          <p:nvPr/>
        </p:nvCxnSpPr>
        <p:spPr>
          <a:xfrm>
            <a:off x="7406640" y="50292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9FB0C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9"/>
          <p:cNvSpPr/>
          <p:nvPr/>
        </p:nvSpPr>
        <p:spPr>
          <a:xfrm>
            <a:off x="640080" y="5888736"/>
            <a:ext cx="10881360" cy="749808"/>
          </a:xfrm>
          <a:prstGeom prst="roundRect">
            <a:avLst>
              <a:gd fmla="val 6098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868680" y="5980176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SERVICIOS DE APOYO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68680" y="619963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S3 </a:t>
            </a: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(Celery sube · Backend firma URLs)  · 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Secrets Manager + IAM </a:t>
            </a: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(credenciales cargad</a:t>
            </a:r>
            <a:r>
              <a:rPr lang="en-US" sz="1050">
                <a:solidFill>
                  <a:srgbClr val="323A45"/>
                </a:solidFill>
              </a:rPr>
              <a:t>as con Rust</a:t>
            </a: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)  · 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FCM </a:t>
            </a: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(Celery → push)  ·  </a:t>
            </a:r>
            <a:r>
              <a:rPr b="1" i="0" lang="en-US" sz="10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GitHub Actions </a:t>
            </a:r>
            <a:r>
              <a:rPr b="0" i="0" lang="en-US" sz="105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BAJO EL CAPÓ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676656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Decisiones técnicas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0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0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932688" y="2057400"/>
            <a:ext cx="822960" cy="822960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56" y="225856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1920240" y="20574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Módulo en Rust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920240" y="2496312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La clave del sistema vive en un módulo nativo (PyO3) con zeroización de memoria y aislamiento por OnceLock. Firma + hash en un único componente auditable.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464808" y="2057400"/>
            <a:ext cx="822960" cy="822960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225856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/>
          <p:nvPr/>
        </p:nvSpPr>
        <p:spPr>
          <a:xfrm>
            <a:off x="7452360" y="20574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Procesamiento asíncrono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452360" y="2496312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Celery + Redis en instancia dedicada desacoplan notificaciones push y auditoría del ciclo request/response.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40080" y="4005072"/>
            <a:ext cx="534924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932688" y="4370832"/>
            <a:ext cx="822960" cy="822960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3856" y="45720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1920240" y="437083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Secretos gestionados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920240" y="4809744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Credenciales en AWS Secrets Manager (no en texto plano), acceso por roles IAM. Cifrado AES-256 en reposo y TLS en tránsito, nada en disco, todo en memoria.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6172200" y="4005072"/>
            <a:ext cx="5349240" cy="214884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6464808" y="4370832"/>
            <a:ext cx="822960" cy="822960"/>
          </a:xfrm>
          <a:prstGeom prst="ellipse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5976" y="45720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/>
          <p:nvPr/>
        </p:nvSpPr>
        <p:spPr>
          <a:xfrm>
            <a:off x="7452360" y="437083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CI/CD automatizado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452360" y="4809744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Despliegue continuo con GitHub Actions: un push a producción dispara el deploy, sin pasos manuales.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Resultados de pruebas de carga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2"/>
          <p:cNvCxnSpPr/>
          <p:nvPr/>
        </p:nvCxnSpPr>
        <p:spPr>
          <a:xfrm>
            <a:off x="658368" y="137160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2"/>
          <p:cNvSpPr/>
          <p:nvPr/>
        </p:nvSpPr>
        <p:spPr>
          <a:xfrm>
            <a:off x="640080" y="1828800"/>
            <a:ext cx="3502152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640080" y="2194560"/>
            <a:ext cx="3502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~650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" y="315468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peticiones concurrentes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868680" y="3547872"/>
            <a:ext cx="3044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0% de error sostenido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325112" y="1828800"/>
            <a:ext cx="3502152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E3E9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325112" y="2194560"/>
            <a:ext cx="3502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FA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F8FA8"/>
                </a:solidFill>
                <a:latin typeface="Arial"/>
                <a:ea typeface="Arial"/>
                <a:cs typeface="Arial"/>
                <a:sym typeface="Arial"/>
              </a:rPr>
              <a:t>~921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325112" y="315468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punto de quiebre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553712" y="3547872"/>
            <a:ext cx="3044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con configuración optimizada (gthread)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010144" y="1828800"/>
            <a:ext cx="3502152" cy="2194560"/>
          </a:xfrm>
          <a:prstGeom prst="roundRect">
            <a:avLst>
              <a:gd fmla="val 3333" name="adj"/>
            </a:avLst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8010144" y="2194560"/>
            <a:ext cx="3502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80×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8010144" y="315468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demanda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238744" y="3547872"/>
            <a:ext cx="3044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AE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ADAEE"/>
                </a:solidFill>
                <a:latin typeface="Arial"/>
                <a:ea typeface="Arial"/>
                <a:cs typeface="Arial"/>
                <a:sym typeface="Arial"/>
              </a:rPr>
              <a:t>margen sobre el uso operativo del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40080" y="4297680"/>
            <a:ext cx="10881360" cy="1371600"/>
          </a:xfrm>
          <a:prstGeom prst="roundRect">
            <a:avLst>
              <a:gd fmla="val 4000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La demanda operativa real del cliente es de ~10 personas trabajando en simultáneo.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914400" y="486460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3A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23A45"/>
                </a:solidFill>
                <a:latin typeface="Arial"/>
                <a:ea typeface="Arial"/>
                <a:cs typeface="Arial"/>
                <a:sym typeface="Arial"/>
              </a:rPr>
              <a:t>Pasar de worker sync a gthread (2 workers, 4 threads) elevó el punto de quiebre de ~700 a ~921 concurrentes sin aumentar el uso de memoria. El sistema soporta picos muy por encima de cualquier escenario operativo realista de IMS Ambulancias.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IMSGA · Proyecto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F8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sistema alineado con el Chile que la ley ya exige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3"/>
          <p:cNvCxnSpPr/>
          <p:nvPr/>
        </p:nvCxnSpPr>
        <p:spPr>
          <a:xfrm>
            <a:off x="859536" y="2514600"/>
            <a:ext cx="2743200" cy="0"/>
          </a:xfrm>
          <a:prstGeom prst="straightConnector1">
            <a:avLst/>
          </a:prstGeom>
          <a:noFill/>
          <a:ln cap="flat" cmpd="sng" w="31750">
            <a:solidFill>
              <a:srgbClr val="2F8F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3"/>
          <p:cNvSpPr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Interoperabilidad FHIR R4B / CL Core </a:t>
            </a:r>
            <a:r>
              <a:rPr lang="en-US" sz="1500">
                <a:solidFill>
                  <a:srgbClr val="FFFFFF"/>
                </a:solidFill>
              </a:rPr>
              <a:t>que es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estándar que exige la Ley 21.668.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autoría y retención a 15 años </a:t>
            </a:r>
            <a:r>
              <a:rPr lang="en-US" sz="1500">
                <a:solidFill>
                  <a:srgbClr val="FFFFFF"/>
                </a:solidFill>
              </a:rPr>
              <a:t>en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conforme a la Ley 20.584.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Cifrado de datos sensibles en reposo y en tránsito alineado con la Ley 21.719.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ADAEE"/>
              </a:buClr>
              <a:buSzPts val="1500"/>
              <a:buFont typeface="Arial"/>
              <a:buChar char="•"/>
            </a:pPr>
            <a:r>
              <a:rPr b="1" i="0" lang="en-US" sz="1500" u="none" cap="none" strike="noStrike">
                <a:solidFill>
                  <a:srgbClr val="CADAEE"/>
                </a:solidFill>
                <a:latin typeface="Arial"/>
                <a:ea typeface="Arial"/>
                <a:cs typeface="Arial"/>
                <a:sym typeface="Arial"/>
              </a:rPr>
              <a:t>Para IMS Ambulancias: menos tiempo en administración, cero papel, trazabilidad total.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C6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8FA6C6"/>
                </a:solidFill>
                <a:latin typeface="Arial"/>
                <a:ea typeface="Arial"/>
                <a:cs typeface="Arial"/>
                <a:sym typeface="Arial"/>
              </a:rPr>
              <a:t>Diseñado conforme a los estándares que la normativa exige. El reglamento técnico final del MINSAL aún está en definición.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· Preguntas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2026-06-27T04:44:13Z</dcterms:created>
  <dc:creator>Grupo03 — Leonardo Vera · Pascal Coloma · Diego Valencia</dc:creator>
</cp:coreProperties>
</file>