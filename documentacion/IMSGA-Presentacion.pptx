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1.xml"/>
  <Override ContentType="application/vnd.openxmlformats-officedocument.theme+xml" PartName="/ppt/theme/theme1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y="6858000" cx="12192000"/>
  <p:notesSz cx="6858000" cy="12192000"/>
  <p:defaultTextStyle>
    <a:defPPr lvl="0"/>
    <a:lvl1pPr defTabSz="914400" eaLnBrk="1" hangingPunct="1" latinLnBrk="0" lvl="0" marL="0" rtl="0" algn="l">
      <a:defRPr kern="1200" sz="1800">
        <a:solidFill>
          <a:schemeClr val="tx1"/>
        </a:solidFill>
        <a:latin typeface="+mn-lt"/>
        <a:ea typeface="+mn-ea"/>
        <a:cs typeface="+mn-cs"/>
      </a:defRPr>
    </a:lvl1pPr>
    <a:lvl2pPr defTabSz="914400" eaLnBrk="1" hangingPunct="1" latinLnBrk="0" lvl="1" marL="457200" rtl="0" algn="l">
      <a:defRPr kern="1200" sz="1800">
        <a:solidFill>
          <a:schemeClr val="tx1"/>
        </a:solidFill>
        <a:latin typeface="+mn-lt"/>
        <a:ea typeface="+mn-ea"/>
        <a:cs typeface="+mn-cs"/>
      </a:defRPr>
    </a:lvl2pPr>
    <a:lvl3pPr defTabSz="914400" eaLnBrk="1" hangingPunct="1" latinLnBrk="0" lvl="2" marL="914400" rtl="0" algn="l">
      <a:defRPr kern="1200" sz="1800">
        <a:solidFill>
          <a:schemeClr val="tx1"/>
        </a:solidFill>
        <a:latin typeface="+mn-lt"/>
        <a:ea typeface="+mn-ea"/>
        <a:cs typeface="+mn-cs"/>
      </a:defRPr>
    </a:lvl3pPr>
    <a:lvl4pPr defTabSz="914400" eaLnBrk="1" hangingPunct="1" latinLnBrk="0" lvl="3" marL="1371600" rtl="0" algn="l">
      <a:defRPr kern="1200" sz="1800">
        <a:solidFill>
          <a:schemeClr val="tx1"/>
        </a:solidFill>
        <a:latin typeface="+mn-lt"/>
        <a:ea typeface="+mn-ea"/>
        <a:cs typeface="+mn-cs"/>
      </a:defRPr>
    </a:lvl4pPr>
    <a:lvl5pPr defTabSz="914400" eaLnBrk="1" hangingPunct="1" latinLnBrk="0" lvl="4" marL="1828800" rtl="0" algn="l">
      <a:defRPr kern="1200" sz="1800">
        <a:solidFill>
          <a:schemeClr val="tx1"/>
        </a:solidFill>
        <a:latin typeface="+mn-lt"/>
        <a:ea typeface="+mn-ea"/>
        <a:cs typeface="+mn-cs"/>
      </a:defRPr>
    </a:lvl5pPr>
    <a:lvl6pPr defTabSz="914400" eaLnBrk="1" hangingPunct="1" latinLnBrk="0" lvl="5" marL="2286000" rtl="0" algn="l">
      <a:defRPr kern="1200" sz="1800">
        <a:solidFill>
          <a:schemeClr val="tx1"/>
        </a:solidFill>
        <a:latin typeface="+mn-lt"/>
        <a:ea typeface="+mn-ea"/>
        <a:cs typeface="+mn-cs"/>
      </a:defRPr>
    </a:lvl6pPr>
    <a:lvl7pPr defTabSz="914400" eaLnBrk="1" hangingPunct="1" latinLnBrk="0" lvl="6" marL="2743200" rtl="0" algn="l">
      <a:defRPr kern="1200" sz="1800">
        <a:solidFill>
          <a:schemeClr val="tx1"/>
        </a:solidFill>
        <a:latin typeface="+mn-lt"/>
        <a:ea typeface="+mn-ea"/>
        <a:cs typeface="+mn-cs"/>
      </a:defRPr>
    </a:lvl7pPr>
    <a:lvl8pPr defTabSz="914400" eaLnBrk="1" hangingPunct="1" latinLnBrk="0" lvl="7" marL="3200400" rtl="0" algn="l">
      <a:defRPr kern="1200" sz="1800">
        <a:solidFill>
          <a:schemeClr val="tx1"/>
        </a:solidFill>
        <a:latin typeface="+mn-lt"/>
        <a:ea typeface="+mn-ea"/>
        <a:cs typeface="+mn-cs"/>
      </a:defRPr>
    </a:lvl8pPr>
    <a:lvl9pPr defTabSz="914400" eaLnBrk="1" hangingPunct="1" latinLnBrk="0" lvl="8" marL="3657600" rtl="0" algn="l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1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1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2F8FA8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868680" cy="8686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3317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IMSGA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749808" y="32918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Gestor de Ambulancias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749808" y="39776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i="1" dirty="0">
                <a:solidFill>
                  <a:srgbClr val="9FB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 gestión manual al flujo automatizado: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i="1" dirty="0">
                <a:solidFill>
                  <a:srgbClr val="9FB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 y trazabilidad para IMS Ambulancias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68096" y="5029200"/>
            <a:ext cx="2926080" cy="0"/>
          </a:xfrm>
          <a:prstGeom prst="line">
            <a:avLst/>
          </a:prstGeom>
          <a:noFill/>
          <a:ln w="25400">
            <a:solidFill>
              <a:srgbClr val="2F8FA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5212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Leonardo Vera · Pascal Coloma · Diego Valencia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FB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de Título · DUOC UC ·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F8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dolor de IMS Ambulancias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1371600"/>
            <a:ext cx="1005840" cy="0"/>
          </a:xfrm>
          <a:prstGeom prst="line">
            <a:avLst/>
          </a:prstGeom>
          <a:noFill/>
          <a:ln w="31750">
            <a:solidFill>
              <a:srgbClr val="2F8F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23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IMS Ambulancias es una microempresa donde cada hora de personal cuenta. Su operación dependía de procesos manuales que consumían tiempo y eran propensos a error.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624328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3355848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Despacho sin flujo definido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68680" y="4023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visibilidad clara del estado de cada solicitud.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0712" y="233172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2624328"/>
            <a:ext cx="548640" cy="5486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39312" y="3355848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 de móviles desconocido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3639312" y="4023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 sabía qué ambulancia estaba disponible al asignar.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181344" y="233172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2624328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409944" y="3355848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Inventario manual por ambulancia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6409944" y="4023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Conteo a mano, con quiebres de stock no detectados.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8951976" y="233172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8008" y="2624328"/>
            <a:ext cx="548640" cy="5486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180576" y="3355848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Fichas sin autoría ni integridad</a:t>
            </a:r>
            <a:endParaRPr lang="en-US" sz="1350" dirty="0"/>
          </a:p>
        </p:txBody>
      </p:sp>
      <p:sp>
        <p:nvSpPr>
          <p:cNvPr id="21" name="Text 15"/>
          <p:cNvSpPr/>
          <p:nvPr/>
        </p:nvSpPr>
        <p:spPr>
          <a:xfrm>
            <a:off x="9180576" y="4023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Papel, sin prueba de quién atendió ni de no alteración.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640080" y="507492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EEF2F8"/>
          </a:solidFill>
          <a:ln/>
        </p:spPr>
      </p:sp>
      <p:sp>
        <p:nvSpPr>
          <p:cNvPr id="23" name="Text 17"/>
          <p:cNvSpPr/>
          <p:nvPr/>
        </p:nvSpPr>
        <p:spPr>
          <a:xfrm>
            <a:off x="914400" y="5138928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Contexto: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23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 siquiera el referente nacional lo ha resuelto. El SAMU Metropolitano —el sistema prehospitalario más grande de Chile— recibe entre 2.500 y 3.500 llamadas al día y aún registra las atenciones en papel: hasta 30 formularios acumulados en hora peak.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IMSGA · Proyecto de Título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F8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SOLUCIÓN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IMSGA: operación digital de extremo a extremo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1371600"/>
            <a:ext cx="1005840" cy="0"/>
          </a:xfrm>
          <a:prstGeom prst="line">
            <a:avLst/>
          </a:prstGeom>
          <a:noFill/>
          <a:ln w="31750">
            <a:solidFill>
              <a:srgbClr val="2F8F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23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Digitalizamos toda la operación de IMS Ambulancias, devolviéndoles tiempo en cada eslabón: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534924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560320"/>
            <a:ext cx="868680" cy="868680"/>
          </a:xfrm>
          <a:prstGeom prst="ellipse">
            <a:avLst/>
          </a:prstGeom>
          <a:solidFill>
            <a:srgbClr val="EEF2F8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" y="2770632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965960" y="244144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Despacho con flujo claro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965960" y="2898648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completo del despacho (recibido → asignado → finalizado) visible para Control en todo momento.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172200" y="2148840"/>
            <a:ext cx="534924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46520" y="2560320"/>
            <a:ext cx="868680" cy="868680"/>
          </a:xfrm>
          <a:prstGeom prst="ellipse">
            <a:avLst/>
          </a:prstGeom>
          <a:solidFill>
            <a:srgbClr val="EEF2F8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832" y="2770632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98080" y="244144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 de ambulancias en tiempo real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7498080" y="2898648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Disponibilidad de cada móvil siempre actualizada al asignar.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40080" y="4005072"/>
            <a:ext cx="534924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914400" y="4416552"/>
            <a:ext cx="868680" cy="868680"/>
          </a:xfrm>
          <a:prstGeom prst="ellipse">
            <a:avLst/>
          </a:prstGeom>
          <a:solidFill>
            <a:srgbClr val="EEF2F8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" y="4626864"/>
            <a:ext cx="457200" cy="4572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965960" y="429768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automatizado por ambulancia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1965960" y="475488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insumos se descuentan solos al registrar la atención; gestión global y por unidad sin conteo manual.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172200" y="4005072"/>
            <a:ext cx="534924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446520" y="4416552"/>
            <a:ext cx="868680" cy="868680"/>
          </a:xfrm>
          <a:prstGeom prst="ellipse">
            <a:avLst/>
          </a:prstGeom>
          <a:solidFill>
            <a:srgbClr val="EEF2F8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6832" y="4626864"/>
            <a:ext cx="457200" cy="4572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498080" y="429768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de fichas confiable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7498080" y="475488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 digital con autoría firmada, integridad verificable por QR e interoperabilidad FHIR.</a:t>
            </a:r>
            <a:endParaRPr lang="en-US" sz="1150" dirty="0"/>
          </a:p>
        </p:txBody>
      </p:sp>
      <p:sp>
        <p:nvSpPr>
          <p:cNvPr id="26" name="Text 20"/>
          <p:cNvSpPr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resultado para una microempresa: menos horas en administración, menos errores manuales y trazabilidad completa de quién hizo qué y cuándo.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IMSGA · Proyecto de Título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F8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DEMOSTRACIÓN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Flujo del sistema, de principio a fin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1371600"/>
            <a:ext cx="1005840" cy="0"/>
          </a:xfrm>
          <a:prstGeom prst="line">
            <a:avLst/>
          </a:prstGeom>
          <a:noFill/>
          <a:ln w="31750">
            <a:solidFill>
              <a:srgbClr val="2F8F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8116" y="2651760"/>
            <a:ext cx="1051560" cy="1051560"/>
          </a:xfrm>
          <a:prstGeom prst="ellipse">
            <a:avLst/>
          </a:prstGeom>
          <a:solidFill>
            <a:srgbClr val="1F3864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5296" y="2944368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840480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Llamado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548640" y="4160520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recibe la solicitud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267712" y="3177540"/>
            <a:ext cx="799186" cy="0"/>
          </a:xfrm>
          <a:prstGeom prst="line">
            <a:avLst/>
          </a:prstGeom>
          <a:noFill/>
          <a:ln w="19050">
            <a:solidFill>
              <a:srgbClr val="C2CCDA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778862" y="2651760"/>
            <a:ext cx="1051560" cy="1051560"/>
          </a:xfrm>
          <a:prstGeom prst="ellipse">
            <a:avLst/>
          </a:prstGeom>
          <a:solidFill>
            <a:srgbClr val="2F8FA8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6042" y="2944368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490826" y="3840480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Despacho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2399386" y="4160520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asigna equipo y móvil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118458" y="3177540"/>
            <a:ext cx="799186" cy="0"/>
          </a:xfrm>
          <a:prstGeom prst="line">
            <a:avLst/>
          </a:prstGeom>
          <a:noFill/>
          <a:ln w="19050">
            <a:solidFill>
              <a:srgbClr val="C2CCDA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4629607" y="2651760"/>
            <a:ext cx="1051560" cy="1051560"/>
          </a:xfrm>
          <a:prstGeom prst="ellipse">
            <a:avLst/>
          </a:prstGeom>
          <a:solidFill>
            <a:srgbClr val="1F3864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6787" y="2944368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341571" y="3840480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Notificación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4250131" y="4160520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al equipo en terreno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5969203" y="3177540"/>
            <a:ext cx="799186" cy="0"/>
          </a:xfrm>
          <a:prstGeom prst="line">
            <a:avLst/>
          </a:prstGeom>
          <a:noFill/>
          <a:ln w="19050">
            <a:solidFill>
              <a:srgbClr val="C2CCDA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6480353" y="2651760"/>
            <a:ext cx="1051560" cy="1051560"/>
          </a:xfrm>
          <a:prstGeom prst="ellipse">
            <a:avLst/>
          </a:prstGeom>
          <a:solidFill>
            <a:srgbClr val="2F8FA8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7533" y="2944368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192317" y="3840480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Atención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6100877" y="4160520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de ficha + insumos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819949" y="3177540"/>
            <a:ext cx="799186" cy="0"/>
          </a:xfrm>
          <a:prstGeom prst="line">
            <a:avLst/>
          </a:prstGeom>
          <a:noFill/>
          <a:ln w="19050">
            <a:solidFill>
              <a:srgbClr val="C2CCDA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8331098" y="2651760"/>
            <a:ext cx="1051560" cy="1051560"/>
          </a:xfrm>
          <a:prstGeom prst="ellipse">
            <a:avLst/>
          </a:prstGeom>
          <a:solidFill>
            <a:srgbClr val="1F3864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8278" y="2944368"/>
            <a:ext cx="457200" cy="45720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8043062" y="3840480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7951622" y="4160520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 firmada (Ed25519)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9670694" y="3177540"/>
            <a:ext cx="799186" cy="0"/>
          </a:xfrm>
          <a:prstGeom prst="line">
            <a:avLst/>
          </a:prstGeom>
          <a:noFill/>
          <a:ln w="19050">
            <a:solidFill>
              <a:srgbClr val="C2CCDA"/>
            </a:solidFill>
            <a:prstDash val="solid"/>
            <a:tailEnd type="triangle"/>
          </a:ln>
        </p:spPr>
      </p:sp>
      <p:sp>
        <p:nvSpPr>
          <p:cNvPr id="30" name="Shape 23"/>
          <p:cNvSpPr/>
          <p:nvPr/>
        </p:nvSpPr>
        <p:spPr>
          <a:xfrm>
            <a:off x="10181844" y="2651760"/>
            <a:ext cx="1051560" cy="1051560"/>
          </a:xfrm>
          <a:prstGeom prst="ellipse">
            <a:avLst/>
          </a:prstGeom>
          <a:solidFill>
            <a:srgbClr val="2F8FA8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79024" y="2944368"/>
            <a:ext cx="457200" cy="45720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893808" y="3840480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Verificación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9802368" y="4160520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Validación pública por QR</a:t>
            </a:r>
            <a:endParaRPr lang="en-US" sz="1000" dirty="0"/>
          </a:p>
        </p:txBody>
      </p:sp>
      <p:sp>
        <p:nvSpPr>
          <p:cNvPr id="34" name="Shape 26"/>
          <p:cNvSpPr/>
          <p:nvPr/>
        </p:nvSpPr>
        <p:spPr>
          <a:xfrm>
            <a:off x="640080" y="5212080"/>
            <a:ext cx="10881360" cy="777240"/>
          </a:xfrm>
          <a:prstGeom prst="roundRect">
            <a:avLst>
              <a:gd name="adj" fmla="val 7059"/>
            </a:avLst>
          </a:prstGeom>
          <a:solidFill>
            <a:srgbClr val="EEF2F8"/>
          </a:solidFill>
          <a:ln/>
        </p:spPr>
      </p:sp>
      <p:sp>
        <p:nvSpPr>
          <p:cNvPr id="35" name="Text 27"/>
          <p:cNvSpPr/>
          <p:nvPr/>
        </p:nvSpPr>
        <p:spPr>
          <a:xfrm>
            <a:off x="914400" y="5285232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en vivo. </a:t>
            </a:r>
            <a:pPr indent="0" marL="0">
              <a:buNone/>
            </a:pPr>
            <a:r>
              <a:rPr lang="en-US" sz="1300" dirty="0">
                <a:solidFill>
                  <a:srgbClr val="323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continuación recorremos este flujo directamente sobre el sistema en producción.</a:t>
            </a:r>
            <a:endParaRPr lang="en-US" sz="1300" dirty="0"/>
          </a:p>
        </p:txBody>
      </p:sp>
      <p:sp>
        <p:nvSpPr>
          <p:cNvPr id="36" name="Text 28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IMSGA · Proyecto de Título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F8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DIFERENCIADOR CLAVE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 clínica: autoría, integridad y verificación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1371600"/>
            <a:ext cx="1005840" cy="0"/>
          </a:xfrm>
          <a:prstGeom prst="line">
            <a:avLst/>
          </a:prstGeom>
          <a:noFill/>
          <a:ln w="31750">
            <a:solidFill>
              <a:srgbClr val="2F8F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23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confianza incorporada por diseño. Cada ficha sabe quién la creó, prueba que no fue alterada, y cualquiera puede verificarla — sin acceso al sistema.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3502152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888236" y="2606040"/>
            <a:ext cx="1005840" cy="1005840"/>
          </a:xfrm>
          <a:prstGeom prst="ellipse">
            <a:avLst/>
          </a:prstGeom>
          <a:solidFill>
            <a:srgbClr val="1F3864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9696" y="2852928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3703320"/>
            <a:ext cx="3502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Autoría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914400" y="4096512"/>
            <a:ext cx="29535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 Ed25519 que vincula la ficha al profesional que la creó. No-repudio real.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5112" y="2286000"/>
            <a:ext cx="3502152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573268" y="2606040"/>
            <a:ext cx="1005840" cy="1005840"/>
          </a:xfrm>
          <a:prstGeom prst="ellipse">
            <a:avLst/>
          </a:prstGeom>
          <a:solidFill>
            <a:srgbClr val="1F3864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4728" y="2852928"/>
            <a:ext cx="502920" cy="5029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325112" y="3703320"/>
            <a:ext cx="3502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Integridad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4599432" y="4096512"/>
            <a:ext cx="29535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Cualquier alteración posterior invalida la firma. La ficha es inmutable una vez firmada.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010144" y="2286000"/>
            <a:ext cx="3502152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9258300" y="2606040"/>
            <a:ext cx="1005840" cy="1005840"/>
          </a:xfrm>
          <a:prstGeom prst="ellipse">
            <a:avLst/>
          </a:prstGeom>
          <a:solidFill>
            <a:srgbClr val="1F3864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852928"/>
            <a:ext cx="502920" cy="5029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010144" y="3703320"/>
            <a:ext cx="3502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Verificación pública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8284464" y="4096512"/>
            <a:ext cx="29535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Escaneando un QR, cualquiera valida autenticidad por hash, sin entrar al sistema.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40080" y="5029200"/>
            <a:ext cx="10881360" cy="1005840"/>
          </a:xfrm>
          <a:prstGeom prst="roundRect">
            <a:avLst>
              <a:gd name="adj" fmla="val 5455"/>
            </a:avLst>
          </a:prstGeom>
          <a:solidFill>
            <a:srgbClr val="EEF2F8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257800"/>
            <a:ext cx="502920" cy="5029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600200" y="507492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Equivale al propósito de la Firma Electrónica Avanzada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23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el propio Estado exige para garantizar autenticidad e integridad de documentos clínicos.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IMSGA · Proyecto de Título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F8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Y DESPUÉS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manual vs. IMSGA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1371600"/>
            <a:ext cx="1005840" cy="0"/>
          </a:xfrm>
          <a:prstGeom prst="line">
            <a:avLst/>
          </a:prstGeom>
          <a:noFill/>
          <a:ln w="31750">
            <a:solidFill>
              <a:srgbClr val="2F8FA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069080"/>
                <a:gridCol w="40690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OPERACIÓN MANUAL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97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IMSGA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Despacho y flujo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Manual, sin visibilidad de estado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23A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Digital, ciclo completo en tiempo real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Estado de ambulancias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Desconocido / consultado a mano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23A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Actualizado en tiempo real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Stock de insumos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Conteo manual por ambulancia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23A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Descuento automático por atención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de fichas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Papel, sin autoría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23A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Digital, firma Ed25519 por profesional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Integridad de la ficha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garantía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23A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Verificable por hash + QR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Interoperabilidad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Inexistente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23A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FHIR R4B / CL Core (Ley 21.668)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encabezado compara procesos (papel vs. digital), no organizaciones — ahí está la mejora real.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IMSGA · Proyecto de Título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F8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del sistema en AWS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1371600"/>
            <a:ext cx="1005840" cy="0"/>
          </a:xfrm>
          <a:prstGeom prst="line">
            <a:avLst/>
          </a:prstGeom>
          <a:noFill/>
          <a:ln w="31750">
            <a:solidFill>
              <a:srgbClr val="2F8F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1417320" cy="868680"/>
          </a:xfrm>
          <a:prstGeom prst="roundRect">
            <a:avLst>
              <a:gd name="adj" fmla="val 5263"/>
            </a:avLst>
          </a:prstGeom>
          <a:solidFill>
            <a:srgbClr val="2E4D7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54480"/>
            <a:ext cx="141732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194560" y="1554480"/>
            <a:ext cx="457200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3160" y="1810512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971800" y="15544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web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 → Frontend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949440" y="1554480"/>
            <a:ext cx="457200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810512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726680" y="15544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Android (terreno)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 → Backend (directo)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40080" y="2807208"/>
            <a:ext cx="1417320" cy="1691640"/>
          </a:xfrm>
          <a:prstGeom prst="roundRect">
            <a:avLst>
              <a:gd name="adj" fmla="val 3226"/>
            </a:avLst>
          </a:prstGeom>
          <a:solidFill>
            <a:srgbClr val="2F8FA8"/>
          </a:solidFill>
          <a:ln/>
        </p:spPr>
      </p:sp>
      <p:sp>
        <p:nvSpPr>
          <p:cNvPr id="14" name="Text 10"/>
          <p:cNvSpPr/>
          <p:nvPr/>
        </p:nvSpPr>
        <p:spPr>
          <a:xfrm>
            <a:off x="640080" y="2807208"/>
            <a:ext cx="1417320" cy="1691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APLICACIÓN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2194560" y="2807208"/>
            <a:ext cx="9326880" cy="1691640"/>
          </a:xfrm>
          <a:prstGeom prst="roundRect">
            <a:avLst>
              <a:gd name="adj" fmla="val 2162"/>
            </a:avLst>
          </a:prstGeom>
          <a:solidFill>
            <a:srgbClr val="EAF3EC"/>
          </a:solidFill>
          <a:ln w="12700">
            <a:solidFill>
              <a:srgbClr val="AFCBB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2331720" y="288036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C7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· Subred pública — 3 instancias EC2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2423160" y="3218688"/>
            <a:ext cx="274320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2606040" y="3511296"/>
            <a:ext cx="548640" cy="548640"/>
          </a:xfrm>
          <a:prstGeom prst="ellipse">
            <a:avLst/>
          </a:prstGeom>
          <a:solidFill>
            <a:srgbClr val="1F3864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3648456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264408" y="33832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3264408" y="3694176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 · NGINX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Puerta de entrada web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5166360" y="3790188"/>
            <a:ext cx="320040" cy="0"/>
          </a:xfrm>
          <a:prstGeom prst="line">
            <a:avLst/>
          </a:prstGeom>
          <a:noFill/>
          <a:ln w="22225">
            <a:solidFill>
              <a:srgbClr val="7E8DA3"/>
            </a:solidFill>
            <a:prstDash val="solid"/>
            <a:tailEnd type="triangle"/>
          </a:ln>
        </p:spPr>
      </p:sp>
      <p:sp>
        <p:nvSpPr>
          <p:cNvPr id="23" name="Shape 18"/>
          <p:cNvSpPr/>
          <p:nvPr/>
        </p:nvSpPr>
        <p:spPr>
          <a:xfrm>
            <a:off x="5486400" y="3218688"/>
            <a:ext cx="274320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5669280" y="3511296"/>
            <a:ext cx="548640" cy="548640"/>
          </a:xfrm>
          <a:prstGeom prst="ellipse">
            <a:avLst/>
          </a:prstGeom>
          <a:solidFill>
            <a:srgbClr val="1F3864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3648456"/>
            <a:ext cx="274320" cy="2743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327648" y="33832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6327648" y="3694176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Django · Gunicorn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Lógica de negocio · API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8229600" y="3790188"/>
            <a:ext cx="320040" cy="0"/>
          </a:xfrm>
          <a:prstGeom prst="line">
            <a:avLst/>
          </a:prstGeom>
          <a:noFill/>
          <a:ln w="22225">
            <a:solidFill>
              <a:srgbClr val="7E8DA3"/>
            </a:solidFill>
            <a:prstDash val="solid"/>
            <a:tailEnd type="triangle"/>
          </a:ln>
        </p:spPr>
      </p:sp>
      <p:sp>
        <p:nvSpPr>
          <p:cNvPr id="29" name="Shape 23"/>
          <p:cNvSpPr/>
          <p:nvPr/>
        </p:nvSpPr>
        <p:spPr>
          <a:xfrm>
            <a:off x="8549640" y="3218688"/>
            <a:ext cx="274320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8732520" y="3511296"/>
            <a:ext cx="548640" cy="548640"/>
          </a:xfrm>
          <a:prstGeom prst="ellipse">
            <a:avLst/>
          </a:prstGeom>
          <a:solidFill>
            <a:srgbClr val="1F3864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0" y="3648456"/>
            <a:ext cx="274320" cy="27432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9390888" y="33832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+ Celery</a:t>
            </a:r>
            <a:endParaRPr lang="en-US" sz="1300" dirty="0"/>
          </a:p>
        </p:txBody>
      </p:sp>
      <p:sp>
        <p:nvSpPr>
          <p:cNvPr id="33" name="Text 26"/>
          <p:cNvSpPr/>
          <p:nvPr/>
        </p:nvSpPr>
        <p:spPr>
          <a:xfrm>
            <a:off x="9390888" y="3694176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 asíncrona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Notificaciones · tareas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640080" y="4882896"/>
            <a:ext cx="1417320" cy="777240"/>
          </a:xfrm>
          <a:prstGeom prst="roundRect">
            <a:avLst>
              <a:gd name="adj" fmla="val 5882"/>
            </a:avLst>
          </a:prstGeom>
          <a:solidFill>
            <a:srgbClr val="1F3864"/>
          </a:solidFill>
          <a:ln/>
        </p:spPr>
      </p:sp>
      <p:sp>
        <p:nvSpPr>
          <p:cNvPr id="35" name="Text 28"/>
          <p:cNvSpPr/>
          <p:nvPr/>
        </p:nvSpPr>
        <p:spPr>
          <a:xfrm>
            <a:off x="640080" y="4882896"/>
            <a:ext cx="14173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</a:t>
            </a:r>
            <a:endParaRPr lang="en-US" sz="1050" dirty="0"/>
          </a:p>
        </p:txBody>
      </p:sp>
      <p:sp>
        <p:nvSpPr>
          <p:cNvPr id="36" name="Shape 29"/>
          <p:cNvSpPr/>
          <p:nvPr/>
        </p:nvSpPr>
        <p:spPr>
          <a:xfrm>
            <a:off x="2194560" y="4882896"/>
            <a:ext cx="9326880" cy="777240"/>
          </a:xfrm>
          <a:prstGeom prst="roundRect">
            <a:avLst>
              <a:gd name="adj" fmla="val 4706"/>
            </a:avLst>
          </a:prstGeom>
          <a:solidFill>
            <a:srgbClr val="EAF0F7"/>
          </a:solidFill>
          <a:ln w="12700">
            <a:solidFill>
              <a:srgbClr val="AEC2DC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2331720" y="494690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4D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· Subred privada</a:t>
            </a:r>
            <a:endParaRPr lang="en-US" sz="950" dirty="0"/>
          </a:p>
        </p:txBody>
      </p:sp>
      <p:sp>
        <p:nvSpPr>
          <p:cNvPr id="38" name="Shape 31"/>
          <p:cNvSpPr/>
          <p:nvPr/>
        </p:nvSpPr>
        <p:spPr>
          <a:xfrm>
            <a:off x="5029200" y="5193792"/>
            <a:ext cx="36576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360" y="5257800"/>
            <a:ext cx="256032" cy="256032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5486400" y="51937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RDS · PostgreSQL</a:t>
            </a:r>
            <a:endParaRPr lang="en-US" sz="1100" dirty="0"/>
          </a:p>
        </p:txBody>
      </p:sp>
      <p:sp>
        <p:nvSpPr>
          <p:cNvPr id="41" name="Shape 33"/>
          <p:cNvSpPr/>
          <p:nvPr/>
        </p:nvSpPr>
        <p:spPr>
          <a:xfrm>
            <a:off x="6858000" y="4361688"/>
            <a:ext cx="0" cy="667512"/>
          </a:xfrm>
          <a:prstGeom prst="line">
            <a:avLst/>
          </a:prstGeom>
          <a:noFill/>
          <a:ln w="19050">
            <a:solidFill>
              <a:srgbClr val="9FB0C6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6858000" y="5029200"/>
            <a:ext cx="-548640" cy="0"/>
          </a:xfrm>
          <a:prstGeom prst="line">
            <a:avLst/>
          </a:prstGeom>
          <a:noFill/>
          <a:ln w="19050">
            <a:solidFill>
              <a:srgbClr val="9FB0C6"/>
            </a:solidFill>
            <a:prstDash val="solid"/>
          </a:ln>
        </p:spPr>
      </p:sp>
      <p:sp>
        <p:nvSpPr>
          <p:cNvPr id="43" name="Shape 35"/>
          <p:cNvSpPr/>
          <p:nvPr/>
        </p:nvSpPr>
        <p:spPr>
          <a:xfrm>
            <a:off x="6309360" y="5029200"/>
            <a:ext cx="0" cy="164592"/>
          </a:xfrm>
          <a:prstGeom prst="line">
            <a:avLst/>
          </a:prstGeom>
          <a:noFill/>
          <a:ln w="1905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44" name="Shape 36"/>
          <p:cNvSpPr/>
          <p:nvPr/>
        </p:nvSpPr>
        <p:spPr>
          <a:xfrm>
            <a:off x="9921240" y="4361688"/>
            <a:ext cx="0" cy="667512"/>
          </a:xfrm>
          <a:prstGeom prst="line">
            <a:avLst/>
          </a:prstGeom>
          <a:noFill/>
          <a:ln w="19050">
            <a:solidFill>
              <a:srgbClr val="9FB0C6"/>
            </a:solidFill>
            <a:prstDash val="solid"/>
          </a:ln>
        </p:spPr>
      </p:sp>
      <p:sp>
        <p:nvSpPr>
          <p:cNvPr id="45" name="Shape 37"/>
          <p:cNvSpPr/>
          <p:nvPr/>
        </p:nvSpPr>
        <p:spPr>
          <a:xfrm>
            <a:off x="7406640" y="5029200"/>
            <a:ext cx="2514600" cy="0"/>
          </a:xfrm>
          <a:prstGeom prst="line">
            <a:avLst/>
          </a:prstGeom>
          <a:noFill/>
          <a:ln w="19050">
            <a:solidFill>
              <a:srgbClr val="9FB0C6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7406640" y="5029200"/>
            <a:ext cx="0" cy="164592"/>
          </a:xfrm>
          <a:prstGeom prst="line">
            <a:avLst/>
          </a:prstGeom>
          <a:noFill/>
          <a:ln w="1905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47" name="Shape 39"/>
          <p:cNvSpPr/>
          <p:nvPr/>
        </p:nvSpPr>
        <p:spPr>
          <a:xfrm>
            <a:off x="640080" y="5888736"/>
            <a:ext cx="10881360" cy="749808"/>
          </a:xfrm>
          <a:prstGeom prst="roundRect">
            <a:avLst>
              <a:gd name="adj" fmla="val 6098"/>
            </a:avLst>
          </a:prstGeom>
          <a:solidFill>
            <a:srgbClr val="EEF2F8"/>
          </a:solidFill>
          <a:ln/>
        </p:spPr>
      </p:sp>
      <p:sp>
        <p:nvSpPr>
          <p:cNvPr id="48" name="Text 40"/>
          <p:cNvSpPr/>
          <p:nvPr/>
        </p:nvSpPr>
        <p:spPr>
          <a:xfrm>
            <a:off x="868680" y="59801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F8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SERVICIOS DE APOYO</a:t>
            </a:r>
            <a:endParaRPr lang="en-US" sz="900" dirty="0"/>
          </a:p>
        </p:txBody>
      </p:sp>
      <p:sp>
        <p:nvSpPr>
          <p:cNvPr id="49" name="Text 41"/>
          <p:cNvSpPr/>
          <p:nvPr/>
        </p:nvSpPr>
        <p:spPr>
          <a:xfrm>
            <a:off x="868680" y="619963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</a:t>
            </a:r>
            <a:pPr indent="0" marL="0">
              <a:buNone/>
            </a:pPr>
            <a:r>
              <a:rPr lang="en-US" sz="1050" dirty="0">
                <a:solidFill>
                  <a:srgbClr val="323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(Celery sube · Backend firma URLs)  ·  </a:t>
            </a:r>
            <a:pPr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 Manager + IAM </a:t>
            </a:r>
            <a:pPr indent="0" marL="0">
              <a:buNone/>
            </a:pPr>
            <a:r>
              <a:rPr lang="en-US" sz="1050" dirty="0">
                <a:solidFill>
                  <a:srgbClr val="323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(credenciales)  ·  </a:t>
            </a:r>
            <a:pPr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FCM </a:t>
            </a:r>
            <a:pPr indent="0" marL="0">
              <a:buNone/>
            </a:pPr>
            <a:r>
              <a:rPr lang="en-US" sz="1050" dirty="0">
                <a:solidFill>
                  <a:srgbClr val="323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(Celery → push)  ·  </a:t>
            </a:r>
            <a:pPr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</a:t>
            </a:r>
            <a:pPr indent="0" marL="0">
              <a:buNone/>
            </a:pPr>
            <a:r>
              <a:rPr lang="en-US" sz="1050" dirty="0">
                <a:solidFill>
                  <a:srgbClr val="323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(CI/CD)</a:t>
            </a:r>
            <a:endParaRPr lang="en-US" sz="1050" dirty="0"/>
          </a:p>
        </p:txBody>
      </p:sp>
      <p:sp>
        <p:nvSpPr>
          <p:cNvPr id="50" name="Text 42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IMSGA · Proyecto de Título</a:t>
            </a:r>
            <a:endParaRPr lang="en-US" sz="900" dirty="0"/>
          </a:p>
        </p:txBody>
      </p:sp>
      <p:sp>
        <p:nvSpPr>
          <p:cNvPr id="51" name="Text 43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F8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BAJO EL CAPÓ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Decisiones técnicas que respaldan la confianza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1371600"/>
            <a:ext cx="1005840" cy="0"/>
          </a:xfrm>
          <a:prstGeom prst="line">
            <a:avLst/>
          </a:prstGeom>
          <a:noFill/>
          <a:ln w="31750">
            <a:solidFill>
              <a:srgbClr val="2F8F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91640"/>
            <a:ext cx="5349240" cy="2148840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2057400"/>
            <a:ext cx="822960" cy="822960"/>
          </a:xfrm>
          <a:prstGeom prst="ellipse">
            <a:avLst/>
          </a:prstGeom>
          <a:solidFill>
            <a:srgbClr val="EEF2F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" y="2258568"/>
            <a:ext cx="420624" cy="42062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20240" y="20574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en Rust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920240" y="2496312"/>
            <a:ext cx="3794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clave del sistema vive en un módulo nativo (PyO3) con zeroización de memoria y aislamiento por OnceLock. Firma + hash en un único componente auditable.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72200" y="1691640"/>
            <a:ext cx="5349240" cy="2148840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64808" y="2057400"/>
            <a:ext cx="822960" cy="822960"/>
          </a:xfrm>
          <a:prstGeom prst="ellipse">
            <a:avLst/>
          </a:prstGeom>
          <a:solidFill>
            <a:srgbClr val="EEF2F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976" y="2258568"/>
            <a:ext cx="420624" cy="42062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52360" y="20574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Procesamiento asíncrono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7452360" y="2496312"/>
            <a:ext cx="3794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Celery + Redis en instancia dedicada desacoplan notificaciones push y auditoría del ciclo request/response.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005072"/>
            <a:ext cx="5349240" cy="2148840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32688" y="4370832"/>
            <a:ext cx="822960" cy="822960"/>
          </a:xfrm>
          <a:prstGeom prst="ellipse">
            <a:avLst/>
          </a:prstGeom>
          <a:solidFill>
            <a:srgbClr val="EEF2F8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" y="4572000"/>
            <a:ext cx="420624" cy="42062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920240" y="437083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Secretos gestionados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1920240" y="4809744"/>
            <a:ext cx="3794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Credenciales en AWS Secrets Manager (no en texto plano), acceso por roles IAM. Cifrado AES-256 en reposo y TLS en tránsito.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72200" y="4005072"/>
            <a:ext cx="5349240" cy="2148840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64808" y="4370832"/>
            <a:ext cx="822960" cy="822960"/>
          </a:xfrm>
          <a:prstGeom prst="ellipse">
            <a:avLst/>
          </a:prstGeom>
          <a:solidFill>
            <a:srgbClr val="EEF2F8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5976" y="4572000"/>
            <a:ext cx="420624" cy="42062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452360" y="437083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automatizado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7452360" y="4809744"/>
            <a:ext cx="3794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Despliegue continuo con GitHub Actions: un push a producción dispara el deploy, sin pasos manuales.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IMSGA · Proyecto de Título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F8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INTEROPERABILIDAD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Exportación clínica en estándar FHIR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1371600"/>
            <a:ext cx="1005840" cy="0"/>
          </a:xfrm>
          <a:prstGeom prst="line">
            <a:avLst/>
          </a:prstGeom>
          <a:noFill/>
          <a:ln w="31750">
            <a:solidFill>
              <a:srgbClr val="2F8F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23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atención se exporta como un Bundle FHIR válido — el lenguaje común de la salud digital — listo para compartirse entre prestadores sin reprocesar datos.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3502152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888236" y="2560320"/>
            <a:ext cx="1005840" cy="1005840"/>
          </a:xfrm>
          <a:prstGeom prst="ellipse">
            <a:avLst/>
          </a:prstGeom>
          <a:solidFill>
            <a:srgbClr val="1F3864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53412" y="2816352"/>
            <a:ext cx="475488" cy="4754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3657600"/>
            <a:ext cx="3502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 FHIR R4B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96112" y="4041648"/>
            <a:ext cx="2990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Generamos un Bundle válido en HL7 FHIR R4B, el estándar internacional de interoperabilidad clínica usado por EE.UU. y la Unión Europea.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25112" y="2286000"/>
            <a:ext cx="3502152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573268" y="2560320"/>
            <a:ext cx="1005840" cy="1005840"/>
          </a:xfrm>
          <a:prstGeom prst="ellipse">
            <a:avLst/>
          </a:prstGeom>
          <a:solidFill>
            <a:srgbClr val="2F8FA8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8444" y="2816352"/>
            <a:ext cx="475488" cy="47548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325112" y="3657600"/>
            <a:ext cx="3502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CL Core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4581144" y="4041648"/>
            <a:ext cx="2990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Adicionalmente cumple CL Core, el perfil nacional chileno de FHIR — no es interoperabilidad genérica, es la que aplica en Chile.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010144" y="2286000"/>
            <a:ext cx="3502152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9258300" y="2560320"/>
            <a:ext cx="1005840" cy="1005840"/>
          </a:xfrm>
          <a:prstGeom prst="ellipse">
            <a:avLst/>
          </a:prstGeom>
          <a:solidFill>
            <a:srgbClr val="1F3864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3476" y="2816352"/>
            <a:ext cx="475488" cy="4754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010144" y="3657600"/>
            <a:ext cx="3502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Relación clínica completa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8266176" y="4041648"/>
            <a:ext cx="2990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bundle integra despacho, atención, grupo, personal y rol, validado sin errores: la atención queda representada de forma íntegra y trazable.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40080" y="5138928"/>
            <a:ext cx="10881360" cy="1005840"/>
          </a:xfrm>
          <a:prstGeom prst="roundRect">
            <a:avLst>
              <a:gd name="adj" fmla="val 5455"/>
            </a:avLst>
          </a:prstGeom>
          <a:solidFill>
            <a:srgbClr val="EEF2F8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367528"/>
            <a:ext cx="502920" cy="5029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600200" y="5184648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importa: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23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Ley 21.668 obliga a que los sistemas clínicos sean interoperables vía HL7 FHIR. Generar bundles FHIR R4B / CL Core es alinearse con esa exigencia legal antes incluso de que el reglamento del MINSAL termine de definirse.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IMSGA · Proyecto de Título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F8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de pruebas de carga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1371600"/>
            <a:ext cx="1005840" cy="0"/>
          </a:xfrm>
          <a:prstGeom prst="line">
            <a:avLst/>
          </a:prstGeom>
          <a:noFill/>
          <a:ln w="31750">
            <a:solidFill>
              <a:srgbClr val="2F8F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828800"/>
            <a:ext cx="3502152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2194560"/>
            <a:ext cx="3502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F8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~650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40080" y="3154680"/>
            <a:ext cx="3502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peticiones concurrentes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3547872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de error sostenido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25112" y="1828800"/>
            <a:ext cx="3502152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325112" y="2194560"/>
            <a:ext cx="3502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F8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~921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4325112" y="3154680"/>
            <a:ext cx="3502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punto de quiebre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53712" y="3547872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configuración optimizada (gthread)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10144" y="1828800"/>
            <a:ext cx="3502152" cy="2194560"/>
          </a:xfrm>
          <a:prstGeom prst="roundRect">
            <a:avLst>
              <a:gd name="adj" fmla="val 3333"/>
            </a:avLst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10144" y="2194560"/>
            <a:ext cx="3502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80×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8010144" y="3154680"/>
            <a:ext cx="3502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demanda real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38744" y="3547872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AD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margen sobre el uso operativo del cliente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4297680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4805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demanda operativa real del cliente es de ~10 personas trabajando en simultáneo.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4400" y="4864608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23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Pasar de worker sync a gthread (2 workers, 4 threads) elevó el punto de quiebre de ~700 a ~921 concurrentes sin aumentar el uso de memoria. El sistema soporta picos muy por encima de cualquier escenario operativo realista de IMS Ambulancias.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IMSGA · Proyecto de Título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2F8FA8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sistema alineado con el Chile que la ley ya exige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59536" y="2514600"/>
            <a:ext cx="2743200" cy="0"/>
          </a:xfrm>
          <a:prstGeom prst="line">
            <a:avLst/>
          </a:prstGeom>
          <a:noFill/>
          <a:ln w="31750">
            <a:solidFill>
              <a:srgbClr val="2F8F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83464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Interoperabilidad FHIR R4B / CL Core — el estándar que exige la Ley 21.668.</a:t>
            </a:r>
            <a:endParaRPr lang="en-US" sz="1500" dirty="0"/>
          </a:p>
          <a:p>
            <a:pPr marL="228600" indent="-2286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Trazabilidad de autoría y retención a 15 años — conforme a la Ley 20.584.</a:t>
            </a:r>
            <a:endParaRPr lang="en-US" sz="1500" dirty="0"/>
          </a:p>
          <a:p>
            <a:pPr marL="228600" indent="-2286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Cifrado de datos sensibles en reposo y en tránsito — alineado con la Ley 21.719.</a:t>
            </a:r>
            <a:endParaRPr lang="en-US" sz="1500" dirty="0"/>
          </a:p>
          <a:p>
            <a:pPr marL="228600" indent="-2286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CAD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IMS Ambulancias: menos tiempo en administración, cero papel, trazabilidad total.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51663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6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Diseñado conforme a los estándares que la normativa exige. El reglamento técnico final del MINSAL aún está en definición.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5715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 · Preguntas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